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2103120"/>
            <a:ext cx="5486400" cy="5486400"/>
          </a:xfrm>
          <a:prstGeom prst="ellipse">
            <a:avLst/>
          </a:prstGeom>
          <a:solidFill>
            <a:srgbClr val="132A44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96596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REPRODUCTION  ·  BIOMEDICAL IMAGE ENHANCEMENT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10241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Endoscopy Image Enhancement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273552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&amp; Improving Jagarajan &amp; Jayaraman (2026)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22960" y="443484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606040" y="4434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990088" y="4434840"/>
            <a:ext cx="2039112" cy="457200"/>
          </a:xfrm>
          <a:prstGeom prst="roundRect">
            <a:avLst>
              <a:gd name="adj" fmla="val 16000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90088" y="4434840"/>
            <a:ext cx="2039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Hu-WBI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4434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13248" y="4434840"/>
            <a:ext cx="4343400" cy="457200"/>
          </a:xfrm>
          <a:prstGeom prst="roundRect">
            <a:avLst>
              <a:gd name="adj" fmla="val 16000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13248" y="4434840"/>
            <a:ext cx="4343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56648" y="4434840"/>
            <a:ext cx="3840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E8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140696" y="4434840"/>
            <a:ext cx="1783080" cy="457200"/>
          </a:xfrm>
          <a:prstGeom prst="roundRect">
            <a:avLst>
              <a:gd name="adj" fmla="val 16000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40696" y="443484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63093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Jagarajan &amp; Jayaraman, Multimedia Tools and Applications (2026) 85:477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endoscopic images need enhancement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148840" y="169164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514600" y="18562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contrast · noise · over/under-exposure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2514600" y="22951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capture artifacts in endoscopic video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06440" y="26883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148840" y="306324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14600" y="32278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of clinically useful detail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2514600" y="36667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Subtle tissue and lesion features become hard to distinguish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806440" y="4059936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443484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  <a:effectLst>
            <a:outerShdw sx="100000" sy="100000" kx="0" ky="0" algn="bl" rotWithShape="0" blurRad="127000" dist="25400" dir="5400000">
              <a:srgbClr val="0E8A8A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14600" y="459943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 is needed before diagnosis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2514600" y="5038344"/>
            <a:ext cx="7132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detail without discarding diagnostic information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5742432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paper's approach: </a:t>
            </a:r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hybrid pipeline pairing classical contrast enhancement with deep-learning sharpening (SRGAN), deployable as an IoT/cloud tool for real-time clinical use.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48640" y="6528816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Jagarajan &amp; Jayaraman, Multimedia Tools and Applications (2026) 85:477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paper's 4-stage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0304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16223B"/>
          </a:solidFill>
          <a:ln w="15875">
            <a:solidFill>
              <a:srgbClr val="162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1744" y="28986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91744" y="3355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frame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91944" y="3291840"/>
            <a:ext cx="146304" cy="0"/>
          </a:xfrm>
          <a:prstGeom prst="line">
            <a:avLst/>
          </a:prstGeom>
          <a:noFill/>
          <a:ln w="22225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465680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BFE3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78328" y="2514600"/>
            <a:ext cx="438912" cy="438912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0" name="Text 8"/>
          <p:cNvSpPr/>
          <p:nvPr/>
        </p:nvSpPr>
        <p:spPr>
          <a:xfrm>
            <a:off x="3078328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2557120" y="3063240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 → HSV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557120" y="38679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V channel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57320" y="3291840"/>
            <a:ext cx="146304" cy="0"/>
          </a:xfrm>
          <a:prstGeom prst="line">
            <a:avLst/>
          </a:prstGeom>
          <a:noFill/>
          <a:ln w="22225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331056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BFE3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43704" y="2514600"/>
            <a:ext cx="438912" cy="438912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4943704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422496" y="3063240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Invert + Gamma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22496" y="38679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V channel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22696" y="3291840"/>
            <a:ext cx="146304" cy="0"/>
          </a:xfrm>
          <a:prstGeom prst="line">
            <a:avLst/>
          </a:prstGeom>
          <a:noFill/>
          <a:ln w="22225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96432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BFE3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09080" y="2514600"/>
            <a:ext cx="438912" cy="438912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2" name="Text 20"/>
          <p:cNvSpPr/>
          <p:nvPr/>
        </p:nvSpPr>
        <p:spPr>
          <a:xfrm>
            <a:off x="6809080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287872" y="3063240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Hu-WBI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287872" y="38679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enhancement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888072" y="3291840"/>
            <a:ext cx="146304" cy="0"/>
          </a:xfrm>
          <a:prstGeom prst="line">
            <a:avLst/>
          </a:prstGeom>
          <a:noFill/>
          <a:ln w="22225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061808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FFFFFF"/>
          </a:solidFill>
          <a:ln w="15875">
            <a:solidFill>
              <a:srgbClr val="BFE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674456" y="2514600"/>
            <a:ext cx="438912" cy="438912"/>
          </a:xfrm>
          <a:prstGeom prst="ellipse">
            <a:avLst/>
          </a:prstGeom>
          <a:solidFill>
            <a:srgbClr val="0E8A8A"/>
          </a:solidFill>
          <a:ln/>
        </p:spPr>
      </p:sp>
      <p:sp>
        <p:nvSpPr>
          <p:cNvPr id="28" name="Text 26"/>
          <p:cNvSpPr/>
          <p:nvPr/>
        </p:nvSpPr>
        <p:spPr>
          <a:xfrm>
            <a:off x="8674456" y="251460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8153248" y="3063240"/>
            <a:ext cx="1481328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Unsharp Mask</a:t>
            </a:r>
            <a:endParaRPr lang="en-US" sz="13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SRGAN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8153248" y="3867912"/>
            <a:ext cx="148132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sharpening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9753448" y="3291840"/>
            <a:ext cx="146304" cy="0"/>
          </a:xfrm>
          <a:prstGeom prst="line">
            <a:avLst/>
          </a:prstGeom>
          <a:noFill/>
          <a:ln w="22225">
            <a:solidFill>
              <a:srgbClr val="0B6E6E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927184" y="2331720"/>
            <a:ext cx="1664208" cy="1920240"/>
          </a:xfrm>
          <a:prstGeom prst="roundRect">
            <a:avLst>
              <a:gd name="adj" fmla="val 4396"/>
            </a:avLst>
          </a:prstGeom>
          <a:solidFill>
            <a:srgbClr val="16223B"/>
          </a:solidFill>
          <a:ln w="15875">
            <a:solidFill>
              <a:srgbClr val="16223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018624" y="2898648"/>
            <a:ext cx="14813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RGB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10018624" y="3355848"/>
            <a:ext cx="148132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H, S, V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914400" y="4709160"/>
            <a:ext cx="10360152" cy="777240"/>
          </a:xfrm>
          <a:prstGeom prst="roundRect">
            <a:avLst>
              <a:gd name="adj" fmla="val 10588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280160" y="4709160"/>
            <a:ext cx="962863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V (brightness) channel is processed — </a:t>
            </a:r>
            <a:pPr indent="0" marL="0">
              <a:buNone/>
            </a:pPr>
            <a:r>
              <a:rPr lang="en-US" sz="1600" dirty="0">
                <a:solidFill>
                  <a:srgbClr val="2E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 and Saturation pass through unchanged and are re-merged at the end.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54864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numbers 1–4 correspond to the paper's own stage labels; Input/Final are pipeline endpoints.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— APPLIED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 pipeline walkthrough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243584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source image traced through four key stages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44856" y="1709928"/>
            <a:ext cx="2386584" cy="238658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12000"/>
              </a:srgbClr>
            </a:outerShdw>
          </a:effectLst>
        </p:spPr>
      </p:sp>
      <p:pic>
        <p:nvPicPr>
          <p:cNvPr id="6" name="Image 0" descr="/home/claude/work/build/images/img_origin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8008" y="1783080"/>
            <a:ext cx="2240280" cy="2240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18008" y="4133088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/>
        </p:spPr>
      </p:sp>
      <p:sp>
        <p:nvSpPr>
          <p:cNvPr id="8" name="Text 5"/>
          <p:cNvSpPr/>
          <p:nvPr/>
        </p:nvSpPr>
        <p:spPr>
          <a:xfrm>
            <a:off x="518008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18008" y="444398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Input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758288" y="178308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3416656" y="1709928"/>
            <a:ext cx="2386584" cy="238658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12000"/>
              </a:srgbClr>
            </a:outerShdw>
          </a:effectLst>
        </p:spPr>
      </p:sp>
      <p:pic>
        <p:nvPicPr>
          <p:cNvPr id="12" name="Image 1" descr="/home/claude/work/build/images/img_invert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9808" y="1783080"/>
            <a:ext cx="2240280" cy="224028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89808" y="4133088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/>
        </p:spPr>
      </p:sp>
      <p:sp>
        <p:nvSpPr>
          <p:cNvPr id="14" name="Text 10"/>
          <p:cNvSpPr/>
          <p:nvPr/>
        </p:nvSpPr>
        <p:spPr>
          <a:xfrm>
            <a:off x="3489808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3489808" y="444398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30088" y="178308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7" name="Shape 13"/>
          <p:cNvSpPr/>
          <p:nvPr/>
        </p:nvSpPr>
        <p:spPr>
          <a:xfrm>
            <a:off x="6388456" y="1709928"/>
            <a:ext cx="2386584" cy="238658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12000"/>
              </a:srgbClr>
            </a:outerShdw>
          </a:effectLst>
        </p:spPr>
      </p:sp>
      <p:pic>
        <p:nvPicPr>
          <p:cNvPr id="18" name="Image 2" descr="/home/claude/work/build/images/img_clah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608" y="1783080"/>
            <a:ext cx="2240280" cy="224028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61608" y="4133088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/>
        </p:spPr>
      </p:sp>
      <p:sp>
        <p:nvSpPr>
          <p:cNvPr id="20" name="Text 15"/>
          <p:cNvSpPr/>
          <p:nvPr/>
        </p:nvSpPr>
        <p:spPr>
          <a:xfrm>
            <a:off x="6461608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6461608" y="444398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Enhanced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8701888" y="1783080"/>
            <a:ext cx="365760" cy="2240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Shape 18"/>
          <p:cNvSpPr/>
          <p:nvPr/>
        </p:nvSpPr>
        <p:spPr>
          <a:xfrm>
            <a:off x="9360256" y="1709928"/>
            <a:ext cx="2386584" cy="2386584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12000"/>
              </a:srgbClr>
            </a:outerShdw>
          </a:effectLst>
        </p:spPr>
      </p:sp>
      <p:pic>
        <p:nvPicPr>
          <p:cNvPr id="24" name="Image 3" descr="/home/claude/work/build/images/img_final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3408" y="1783080"/>
            <a:ext cx="2240280" cy="224028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433408" y="4133088"/>
            <a:ext cx="2240280" cy="274320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/>
        </p:spPr>
      </p:sp>
      <p:sp>
        <p:nvSpPr>
          <p:cNvPr id="26" name="Text 20"/>
          <p:cNvSpPr/>
          <p:nvPr/>
        </p:nvSpPr>
        <p:spPr>
          <a:xfrm>
            <a:off x="9433408" y="4133088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9433408" y="4443984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Output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11-step breakdown with PSNR/SSIM per stage available in pipeline_steps_output/ for both paper images.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Baseline implementation — matched to the paper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514600" y="1399032"/>
            <a:ext cx="4160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SPEC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2514600" y="1655064"/>
            <a:ext cx="41605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A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 / Section 3.4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7406640" y="1399032"/>
            <a:ext cx="4251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IMPLEMENTATION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196596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16223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96596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 parameters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514600" y="1965960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15768" y="1965960"/>
            <a:ext cx="3758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 limit = 2, tile size 8×8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84848" y="2290572"/>
            <a:ext cx="310896" cy="310896"/>
          </a:xfrm>
          <a:prstGeom prst="ellipse">
            <a:avLst/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84848" y="2290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406640" y="1965960"/>
            <a:ext cx="4251960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607808" y="1965960"/>
            <a:ext cx="3849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4E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cv2.createCLAHE(clipLimit=2.0, tileGridSize=(8,8))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3035808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16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3580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2514600" y="3035808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15768" y="3035808"/>
            <a:ext cx="3758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 = 0.8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84848" y="3360420"/>
            <a:ext cx="310896" cy="310896"/>
          </a:xfrm>
          <a:prstGeom prst="ellipse">
            <a:avLst/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84848" y="336042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406640" y="3035808"/>
            <a:ext cx="4251960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07808" y="3035808"/>
            <a:ext cx="3849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4E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gamma = 0.8 (default)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48640" y="4105656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16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105656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2514600" y="4105656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15768" y="4105656"/>
            <a:ext cx="3758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residual blocks, PixelShuffle 2×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784848" y="4430268"/>
            <a:ext cx="310896" cy="310896"/>
          </a:xfrm>
          <a:prstGeom prst="ellipse">
            <a:avLst/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84848" y="44302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7406640" y="4105656"/>
            <a:ext cx="4251960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607808" y="4105656"/>
            <a:ext cx="3849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4E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SRGANGenerator: 16 ResidualBlocks + PixelShuffle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175504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16223B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5175504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Discriminator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2514600" y="5175504"/>
            <a:ext cx="4160520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15768" y="5175504"/>
            <a:ext cx="375818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conv layers, BN from layer 2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784848" y="5500116"/>
            <a:ext cx="310896" cy="310896"/>
          </a:xfrm>
          <a:prstGeom prst="ellipse">
            <a:avLst/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84848" y="5500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7406640" y="5175504"/>
            <a:ext cx="4251960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607808" y="5175504"/>
            <a:ext cx="3849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04E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8-layer CNN discriminator, matched exactly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hyperparameter and architecture choice was cross-checked against the paper's own tables.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Resolving the paper's internal ambiguities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18008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38048" y="201168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38048" y="226771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Hu-WBI diagonal interpolation weight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38048" y="2944368"/>
            <a:ext cx="47091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8048" y="309067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AMBIGUITY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38048" y="332841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 literally reads 0.5 × sum(4 neighbours); the paper's own worked example shows averaging instead.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38048" y="4187952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0928" y="4187952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DECISION:  </a:t>
            </a:r>
            <a:pPr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0.25 × sum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38048" y="4828032"/>
            <a:ext cx="4709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38048" y="504748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mathematically consistent reading — 0.5× would clip all bright pixels to white.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324448" y="1737360"/>
            <a:ext cx="534924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101600" dist="25400" dir="5400000">
              <a:srgbClr val="1B2434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644488" y="2011680"/>
            <a:ext cx="4709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C77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2267712"/>
            <a:ext cx="47091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Gamma-correction vs. CLAHE ordering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644488" y="2944368"/>
            <a:ext cx="4709160" cy="0"/>
          </a:xfrm>
          <a:prstGeom prst="line">
            <a:avLst/>
          </a:prstGeom>
          <a:noFill/>
          <a:ln w="12700">
            <a:solidFill>
              <a:srgbClr val="E3E7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4488" y="3090672"/>
            <a:ext cx="4709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AMBIGUITY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644488" y="3328416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1's block diagram and Section 3.2/3.3's prose disagree on stage order.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644488" y="4187952"/>
            <a:ext cx="4709160" cy="512064"/>
          </a:xfrm>
          <a:prstGeom prst="roundRect">
            <a:avLst>
              <a:gd name="adj" fmla="val 125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27368" y="4187952"/>
            <a:ext cx="43434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DECISION:  </a:t>
            </a:r>
            <a:pPr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Followed the prose description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44488" y="4828032"/>
            <a:ext cx="47091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44488" y="5047488"/>
            <a:ext cx="4709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more precise, unambiguous source of the two.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5870448"/>
            <a:ext cx="11091672" cy="530352"/>
          </a:xfrm>
          <a:prstGeom prst="roundRect">
            <a:avLst>
              <a:gd name="adj" fmla="val 13793"/>
            </a:avLst>
          </a:prstGeom>
          <a:solidFill>
            <a:srgbClr val="16223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870448"/>
            <a:ext cx="11091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Reproduction required defensible interpretation, not blind implementation.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 bug found: domain mismatch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286000" y="1920240"/>
            <a:ext cx="2852928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59152" y="1920240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138928" y="1920240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22976" y="1920240"/>
            <a:ext cx="2852928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96128" y="1920240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375904" y="1920240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759952" y="1920240"/>
            <a:ext cx="2852928" cy="960120"/>
          </a:xfrm>
          <a:prstGeom prst="roundRect">
            <a:avLst>
              <a:gd name="adj" fmla="val 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33104" y="1920240"/>
            <a:ext cx="270662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0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Inverted-domain output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72968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286000" y="3172968"/>
            <a:ext cx="1558138" cy="9601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59152" y="3172968"/>
            <a:ext cx="14118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input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44138" y="3172968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228186" y="3172968"/>
            <a:ext cx="1558138" cy="9601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1338" y="3172968"/>
            <a:ext cx="14118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786323" y="3172968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170371" y="3172968"/>
            <a:ext cx="1558138" cy="9601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43523" y="3172968"/>
            <a:ext cx="14118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Original-domain-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output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728509" y="3172968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12557" y="3172968"/>
            <a:ext cx="1558138" cy="9601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5709" y="3172968"/>
            <a:ext cx="14118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Inverted again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70694" y="3172968"/>
            <a:ext cx="38404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047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054742" y="3172968"/>
            <a:ext cx="1558138" cy="960120"/>
          </a:xfrm>
          <a:prstGeom prst="roundRect">
            <a:avLst>
              <a:gd name="adj" fmla="val 6667"/>
            </a:avLst>
          </a:prstGeom>
          <a:solidFill>
            <a:srgbClr val="FBEEEC"/>
          </a:solidFill>
          <a:ln w="12700">
            <a:solidFill>
              <a:srgbClr val="F0D3C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127894" y="3172968"/>
            <a:ext cx="141183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image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0868" y="459028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6900" y="4809744"/>
            <a:ext cx="3008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6900" y="512064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 ≈ 5–8 dB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796900" y="572414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despite healthy-looking training curves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335628" y="459028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91660" y="4809744"/>
            <a:ext cx="3008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91660" y="512064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 ±0.96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591660" y="572414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correlates with inverted input (–0.96) and original (+0.96)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8130388" y="4590288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386420" y="4809744"/>
            <a:ext cx="3008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3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386420" y="5120640"/>
            <a:ext cx="3008376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Retrain on inverted-domain targets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86420" y="5724144"/>
            <a:ext cx="300837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production usage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via a dedicated visual + statistical check — training metrics alone never revealed it.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improvements — paper-compatible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434">
                <a:alpha val="7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476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35024" y="1947672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Perceptual Quality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371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VGG perceptual loss at relu3_4 (not the deeper relu5_4) — captures generic texture/edges, avoiding ImageNet object-level hallucination on tissue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434">
                <a:alpha val="7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28816" y="194767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19476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0" y="1947672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GAN Stability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28816" y="2468880"/>
            <a:ext cx="48371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Relativistic discriminator (RaGAN) — same 8-conv-layer network, sharper gradient signal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augmentation — guards against discriminator overfitting a ~4,300-image set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69080"/>
            <a:ext cx="53858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434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251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35024" y="4325112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Artifact Reduction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22960" y="4846320"/>
            <a:ext cx="48371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ICNR initialization — eliminates checkerboard artifacts from step one of training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54496" y="4069080"/>
            <a:ext cx="5385816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88900" dist="25400" dir="5400000">
              <a:srgbClr val="1B2434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28816" y="4325112"/>
            <a:ext cx="384048" cy="384048"/>
          </a:xfrm>
          <a:prstGeom prst="roundRect">
            <a:avLst>
              <a:gd name="adj" fmla="val 16667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28816" y="432511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040880" y="4325112"/>
            <a:ext cx="43342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528816" y="4846320"/>
            <a:ext cx="4837176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EMA-smoothed final weights + cosine LR schedule with warm-restart capability</a:t>
            </a:r>
            <a:endParaRPr lang="en-US" sz="1200" dirty="0"/>
          </a:p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weights rebalanced from measured raw magnitudes — caught content loss silently dominating 99% of the gradient before it wrecked a run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change the paper's specified architecture — training-process only.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vs. the paper's reported numbers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PSNR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291840" y="15727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26.44 dB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291840" y="1847088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9ECF1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1847088"/>
            <a:ext cx="6366540" cy="310896"/>
          </a:xfrm>
          <a:prstGeom prst="roundRect">
            <a:avLst>
              <a:gd name="adj" fmla="val 14706"/>
            </a:avLst>
          </a:prstGeom>
          <a:solidFill>
            <a:srgbClr val="9AA3B0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230428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~21–22 dB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91840" y="2578608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9ECF1"/>
          </a:solidFill>
          <a:ln/>
        </p:spPr>
      </p:sp>
      <p:sp>
        <p:nvSpPr>
          <p:cNvPr id="10" name="Shape 8"/>
          <p:cNvSpPr/>
          <p:nvPr/>
        </p:nvSpPr>
        <p:spPr>
          <a:xfrm>
            <a:off x="3291840" y="2578608"/>
            <a:ext cx="5177028" cy="310896"/>
          </a:xfrm>
          <a:prstGeom prst="roundRect">
            <a:avLst>
              <a:gd name="adj" fmla="val 14706"/>
            </a:avLst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89504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SSIM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88950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0.9232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91840" y="3163824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9ECF1"/>
          </a:solidFill>
          <a:ln/>
        </p:spPr>
      </p:sp>
      <p:sp>
        <p:nvSpPr>
          <p:cNvPr id="14" name="Shape 12"/>
          <p:cNvSpPr/>
          <p:nvPr/>
        </p:nvSpPr>
        <p:spPr>
          <a:xfrm>
            <a:off x="3291840" y="3163824"/>
            <a:ext cx="6668975" cy="310896"/>
          </a:xfrm>
          <a:prstGeom prst="roundRect">
            <a:avLst>
              <a:gd name="adj" fmla="val 14706"/>
            </a:avLst>
          </a:prstGeom>
          <a:solidFill>
            <a:srgbClr val="9AA3B0"/>
          </a:solidFill>
          <a:ln/>
        </p:spPr>
      </p:sp>
      <p:sp>
        <p:nvSpPr>
          <p:cNvPr id="15" name="Text 13"/>
          <p:cNvSpPr/>
          <p:nvPr/>
        </p:nvSpPr>
        <p:spPr>
          <a:xfrm>
            <a:off x="3291840" y="3621024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~0.85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91840" y="3895344"/>
            <a:ext cx="7223760" cy="310896"/>
          </a:xfrm>
          <a:prstGeom prst="roundRect">
            <a:avLst>
              <a:gd name="adj" fmla="val 14706"/>
            </a:avLst>
          </a:prstGeom>
          <a:solidFill>
            <a:srgbClr val="E9ECF1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3895344"/>
            <a:ext cx="6140196" cy="310896"/>
          </a:xfrm>
          <a:prstGeom prst="roundRect">
            <a:avLst>
              <a:gd name="adj" fmla="val 14706"/>
            </a:avLst>
          </a:prstGeom>
          <a:solidFill>
            <a:srgbClr val="0E8A8A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4297680"/>
            <a:ext cx="11091672" cy="50292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429768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LPIPS   </a:t>
            </a:r>
            <a:pPr indent="0" marL="0">
              <a:buNone/>
            </a:pPr>
            <a:r>
              <a:rPr lang="en-US" sz="12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0.1324    ·    </a:t>
            </a:r>
            <a:pPr indent="0" marL="0">
              <a:buNone/>
            </a:pPr>
            <a:r>
              <a:rPr lang="en-US" sz="12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Ours: computed, comparable range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4956048"/>
            <a:ext cx="11091672" cy="822960"/>
          </a:xfrm>
          <a:prstGeom prst="roundRect">
            <a:avLst>
              <a:gd name="adj" fmla="val 8889"/>
            </a:avLst>
          </a:prstGeom>
          <a:solidFill>
            <a:srgbClr val="16223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95604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reproduced the method successfully —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do not claim an exact numerical match. Several training details (loss weights, epoch count, batch size, train/val split) were not published. Training was verified healthy throughout; the gap reflects a convergence/tuning ceiling, not a broken pipeline.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Explored: Real-ESRGAN transfer learning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40968" y="1536192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16223B"/>
          </a:solidFill>
          <a:ln w="12700">
            <a:solidFill>
              <a:srgbClr val="162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1008" y="1609344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855568" y="1609344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a large pretrained RRDBNet (~16.7M params) beats our from-scratch generator (~1.4M params) on a small dataset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95848" y="2386584"/>
            <a:ext cx="0" cy="128016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1340968" y="2523744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61008" y="2596896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855568" y="2596896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fully separate, opt-in path — paper-faithful model untouched. Official weights verified to load with zero missing/unexpected keys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95848" y="3374136"/>
            <a:ext cx="0" cy="128016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1340968" y="3511296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FBEEEC"/>
          </a:solidFill>
          <a:ln w="12700">
            <a:solidFill>
              <a:srgbClr val="FBEE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61008" y="3584448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8C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855568" y="3584448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B59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yet outperform the from-scratch model — discriminator progressively dominated late in training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48" y="4361688"/>
            <a:ext cx="0" cy="128016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1340968" y="4498848"/>
            <a:ext cx="9509760" cy="841248"/>
          </a:xfrm>
          <a:prstGeom prst="roundRect">
            <a:avLst>
              <a:gd name="adj" fmla="val 8696"/>
            </a:avLst>
          </a:prstGeom>
          <a:solidFill>
            <a:srgbClr val="E4F3F2"/>
          </a:solidFill>
          <a:ln w="12700">
            <a:solidFill>
              <a:srgbClr val="E4F3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1008" y="4572000"/>
            <a:ext cx="2103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spc="12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855568" y="4572000"/>
            <a:ext cx="667512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E73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10× generator/discriminator learning-rate gap, both on the same decay schedule, let the discriminator retain a relative advantage late 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40968" y="5541264"/>
            <a:ext cx="950976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buNone/>
            </a:pPr>
            <a:r>
              <a:rPr lang="en-US" sz="12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revisit the learning-rate schedule so generator and discriminator decay independently, then re-run the comparison.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honest negative result with a diagnosed cause — not a failure to hide.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web application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78028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223B"/>
          </a:solidFill>
          <a:ln w="12700">
            <a:solidFill>
              <a:srgbClr val="16223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9468" y="16916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09748" y="1691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3512668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04108" y="16916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844388" y="1691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47308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38748" y="16916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79028" y="1691640"/>
            <a:ext cx="5029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9181948" y="169164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223B"/>
          </a:solidFill>
          <a:ln w="12700">
            <a:solidFill>
              <a:srgbClr val="16223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73388" y="1691640"/>
            <a:ext cx="21488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Image</a:t>
            </a:r>
            <a:endParaRPr lang="en-US" sz="14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Metrics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54584" y="3246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74040" y="34472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4040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37464" y="38862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737464" y="42519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image upload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804008" y="3246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023464" y="34472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23464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986888" y="38862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Controls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986888" y="42519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sliders for classical-pipeline parameters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053432" y="3246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7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272888" y="34472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72888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36312" y="38862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SRGAN Toggle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5236312" y="42519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classical-only vs. full model output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7302856" y="3246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7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522312" y="34472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22312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485736" y="38862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/ After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485736" y="42519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comparison slider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9552280" y="3246120"/>
            <a:ext cx="208483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3E7ED"/>
            </a:solidFill>
            <a:prstDash val="solid"/>
          </a:ln>
          <a:effectLst>
            <a:outerShdw sx="100000" sy="100000" kx="0" ky="0" algn="bl" rotWithShape="0" blurRad="76200" dist="25400" dir="5400000">
              <a:srgbClr val="1B2434">
                <a:alpha val="7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9771736" y="34472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71736" y="344728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35160" y="3886200"/>
            <a:ext cx="17190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1B24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Metrics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735160" y="4251960"/>
            <a:ext cx="17190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PSNR, SSIM, MSE, LPIPS per result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48640" y="6400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accessible (proper label associations, focus states) and mobile-responsive, with a model-status transparency banner.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 — IN ACTION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in action — real output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94227" y="1362456"/>
            <a:ext cx="7403241" cy="4087368"/>
          </a:xfrm>
          <a:prstGeom prst="roundRect">
            <a:avLst>
              <a:gd name="adj" fmla="val 1119"/>
            </a:avLst>
          </a:prstGeom>
          <a:solidFill>
            <a:srgbClr val="16223B"/>
          </a:solidFill>
          <a:ln/>
          <a:effectLst>
            <a:outerShdw sx="100000" sy="100000" kx="0" ky="0" algn="bl" rotWithShape="0" blurRad="127000" dist="38100" dir="5400000">
              <a:srgbClr val="1B2434">
                <a:alpha val="18000"/>
              </a:srgbClr>
            </a:outerShdw>
          </a:effectLst>
        </p:spPr>
      </p:sp>
      <p:pic>
        <p:nvPicPr>
          <p:cNvPr id="5" name="Image 0" descr="/home/claude/work/build/images/img_app_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49091" y="1417320"/>
            <a:ext cx="7293513" cy="3977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89508" y="5650992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89508" y="5650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PSNR  </a:t>
            </a:r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18.85 dB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649828" y="5650992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49828" y="5650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SSIM  </a:t>
            </a:r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0.7446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210148" y="5650992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210148" y="5650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 </a:t>
            </a:r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806.72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770468" y="5650992"/>
            <a:ext cx="2331720" cy="457200"/>
          </a:xfrm>
          <a:prstGeom prst="roundRect">
            <a:avLst>
              <a:gd name="adj" fmla="val 14000"/>
            </a:avLst>
          </a:prstGeom>
          <a:solidFill>
            <a:srgbClr val="E4F3F2"/>
          </a:solidFill>
          <a:ln w="12700">
            <a:solidFill>
              <a:srgbClr val="BFE3E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770468" y="565099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 </a:t>
            </a:r>
            <a:pPr algn="ctr" indent="0" marL="0">
              <a:buNone/>
            </a:pPr>
            <a:r>
              <a:rPr lang="en-US" sz="1350" b="1" dirty="0">
                <a:solidFill>
                  <a:srgbClr val="0B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→ 127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build_comparison_image() in enhance.py from a real /enhance request.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019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389120"/>
            <a:ext cx="5486400" cy="5486400"/>
          </a:xfrm>
          <a:prstGeom prst="ellipse">
            <a:avLst/>
          </a:prstGeom>
          <a:solidFill>
            <a:srgbClr val="132A44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20" kern="0" dirty="0">
                <a:solidFill>
                  <a:srgbClr val="3FB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04672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reproduction achieved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50012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2620" y="1984248"/>
            <a:ext cx="1691640" cy="384048"/>
          </a:xfrm>
          <a:prstGeom prst="roundRect">
            <a:avLst>
              <a:gd name="adj" fmla="val 16667"/>
            </a:avLst>
          </a:prstGeom>
          <a:solidFill>
            <a:srgbClr val="0E8A8A"/>
          </a:solidFill>
          <a:ln/>
        </p:spPr>
      </p:sp>
      <p:sp>
        <p:nvSpPr>
          <p:cNvPr id="7" name="Text 5"/>
          <p:cNvSpPr/>
          <p:nvPr/>
        </p:nvSpPr>
        <p:spPr>
          <a:xfrm>
            <a:off x="842620" y="1984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2620" y="2560320"/>
            <a:ext cx="29352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architecture faithfully implemented, resolving its own internal ambiguities with documented reasoning.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35628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28236" y="1984248"/>
            <a:ext cx="1691640" cy="384048"/>
          </a:xfrm>
          <a:prstGeom prst="roundRect">
            <a:avLst>
              <a:gd name="adj" fmla="val 16667"/>
            </a:avLst>
          </a:prstGeom>
          <a:solidFill>
            <a:srgbClr val="0E8A8A"/>
          </a:solidFill>
          <a:ln/>
        </p:spPr>
      </p:sp>
      <p:sp>
        <p:nvSpPr>
          <p:cNvPr id="11" name="Text 9"/>
          <p:cNvSpPr/>
          <p:nvPr/>
        </p:nvSpPr>
        <p:spPr>
          <a:xfrm>
            <a:off x="4628236" y="1984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28236" y="2560320"/>
            <a:ext cx="29352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genuine, high-impact domain-mismatch bug in training/inference.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121244" y="1691640"/>
            <a:ext cx="3520440" cy="2331720"/>
          </a:xfrm>
          <a:prstGeom prst="roundRect">
            <a:avLst>
              <a:gd name="adj" fmla="val 3529"/>
            </a:avLst>
          </a:prstGeom>
          <a:solidFill>
            <a:srgbClr val="16223B"/>
          </a:solidFill>
          <a:ln w="12700">
            <a:solidFill>
              <a:srgbClr val="2740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3852" y="1984248"/>
            <a:ext cx="1691640" cy="384048"/>
          </a:xfrm>
          <a:prstGeom prst="roundRect">
            <a:avLst>
              <a:gd name="adj" fmla="val 16667"/>
            </a:avLst>
          </a:prstGeom>
          <a:solidFill>
            <a:srgbClr val="0E8A8A"/>
          </a:solidFill>
          <a:ln/>
        </p:spPr>
      </p:sp>
      <p:sp>
        <p:nvSpPr>
          <p:cNvPr id="15" name="Text 13"/>
          <p:cNvSpPr/>
          <p:nvPr/>
        </p:nvSpPr>
        <p:spPr>
          <a:xfrm>
            <a:off x="8413852" y="1984248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413852" y="2560320"/>
            <a:ext cx="2935224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stable training via literature-backed, paper-compatible techniques, each verified with real runs.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46817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warm-restart training run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RRDB learning-rate coupling issue</a:t>
            </a:r>
            <a:endParaRPr lang="en-US" sz="12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AEBB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Re-evaluate the transfer-learning alternative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76672"/>
            <a:ext cx="10908792" cy="0"/>
          </a:xfrm>
          <a:prstGeom prst="line">
            <a:avLst/>
          </a:prstGeom>
          <a:noFill/>
          <a:ln w="12700">
            <a:solidFill>
              <a:srgbClr val="2740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5504688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3FB6B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faithful reproduction, an honest account of its gaps, and a working tool built on both.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430000" y="6528816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E7A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2026-08-14T12:21:31Z</dcterms:created>
  <dcterms:modified xsi:type="dcterms:W3CDTF">2026-08-14T12:21:31Z</dcterms:modified>
</cp:coreProperties>
</file>