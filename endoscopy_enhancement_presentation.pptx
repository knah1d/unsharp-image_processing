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Endoscopy Image Enhancement</a:t>
            </a:r>
          </a:p>
          <a:p>
            <a:pPr>
              <a:spcBef>
                <a:spcPts val="1400"/>
              </a:spcBef>
              <a:defRPr sz="2000">
                <a:solidFill>
                  <a:srgbClr val="4F8EF7"/>
                </a:solidFill>
              </a:defRPr>
            </a:pPr>
            <a:r>
              <a:t>Reproducing &amp; Improving on Jagarajan &amp; Jayaraman (2026)</a:t>
            </a:r>
          </a:p>
          <a:p>
            <a:pPr>
              <a:spcBef>
                <a:spcPts val="600"/>
              </a:spcBef>
              <a:defRPr sz="1400">
                <a:solidFill>
                  <a:srgbClr val="5A6378"/>
                </a:solidFill>
              </a:defRPr>
            </a:pPr>
            <a:r>
              <a:t>CLAHE + Hu-WBI + Unsharp Masking + SRGAN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Endoscopic images often suffer from low contrast, noise, and over/under-exposure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Poor image quality directly affects diagnostic accuracy for GI tract diseases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Paper's goal: a hybrid pipeline combining classical contrast enhancement with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deep learning-based sharpening (SRGAN) — best of both worlds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Deployed as an IoT/cloud-based tool for real-time clinical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Source: Jagarajan &amp; Jayaraman, Multimedia Tools and Applications (2026) 85:477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The Paper's 4-Stage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Stage 1 — Convert RGB → HSV, extract the Value (brightness) channel</a:t>
            </a:r>
          </a:p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Stage 2 — Normalize, invert, and gamma-correct the V channel</a:t>
            </a:r>
          </a:p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Stage 3 — CLAHE + Hu-WBI (Half-unit Weighted Bilinear Interpolation) for</a:t>
            </a:r>
          </a:p>
          <a:p>
            <a:pPr>
              <a:spcAft>
                <a:spcPts val="400"/>
              </a:spcAft>
              <a:defRPr sz="1400">
                <a:solidFill>
                  <a:srgbClr val="5A6378"/>
                </a:solidFill>
              </a:defRPr>
            </a:pPr>
            <a:r>
              <a:t>   – contrast enhancement — doubles resolution internally for quality</a:t>
            </a:r>
          </a:p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Stage 4 — Unsharp mask (high-pass filter) + SRGAN super-resolution for sharpening</a:t>
            </a:r>
          </a:p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Final — Invert back, merge with original Hue/Saturation, convert to RGB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Only the V (brightness) channel is ever touched — Hue and Saturation pass through unchanged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Visual Pipeline Walkthrough</a:t>
            </a:r>
          </a:p>
          <a:p>
            <a:pPr>
              <a:defRPr sz="1500">
                <a:solidFill>
                  <a:srgbClr val="5A6378"/>
                </a:solidFill>
              </a:defRPr>
            </a:pPr>
            <a:r>
              <a:t>Same source image, traced through 4 key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2606040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20624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A6378"/>
                </a:solidFill>
              </a:defRPr>
            </a:pPr>
            <a:r>
              <a:t>Original Input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600200"/>
            <a:ext cx="2606040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37560" y="420624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A6378"/>
                </a:solidFill>
              </a:defRPr>
            </a:pPr>
            <a:r>
              <a:t>Inverted (Step 3)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00200"/>
            <a:ext cx="2606040" cy="2606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420624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A6378"/>
                </a:solidFill>
              </a:defRPr>
            </a:pPr>
            <a:r>
              <a:t>CLAHE Enhanced (Step 6)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600200"/>
            <a:ext cx="2606040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15400" y="420624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A6378"/>
                </a:solidFill>
              </a:defRPr>
            </a:pPr>
            <a:r>
              <a:t>Final Output (Step 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Full 11-step breakdown with PSNR/SSIM per stage available in pipeline_steps_output/ for both paper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Baseline Implementation — Matched to the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48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Paper spec (Table 4 / Section 3.4)</a:t>
                      </a:r>
                    </a:p>
                  </a:txBody>
                  <a:tcPr>
                    <a:solidFill>
                      <a:srgbClr val="4F8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4F8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Clip limit = 2, tile size 8×8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cv2.createCLAHE(clipLimit=2.0, tileGridSize=(8,8))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Gamma = 0.8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gamma=0.8 default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Generator: 16 residual blocks, PixelShuffle 2×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SRGANGenerator: 16 ResidualBlocks + PixelShuffle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Discriminator: 8 conv layers, BN from layer 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8-layer CNN discriminator, matched exactly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Every hyperparameter and architecture choice cross-checked against the paper's own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Resolving the Paper's Internal Ambiguities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Hu-WBI diagonal interpolation weight: paper's formula literally reads 0.5×sum(4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neighbours), but its own worked example shows averaging — used 0.25×sum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(the mathematically consistent reading; 0.5× would clip all bright pixels to white)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Pipeline step order: Fig. 1's block diagram vs. Section 3.2/3.3's prose disagree on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gamma-correction vs. CLAHE ordering — followed the more precise prose description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Each decision documented in code with the reasoning, not just the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Reproducing a paper means resolving its own inconsistencies defensibly, not guessing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A Real Bug Found: Domain Mismatch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SRGAN is trained on inverted-domain data, but enhance() inverts the output AGAIN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at the end — a double inversion producing a photographic negative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Symptom: catastrophic real-image quality (PSNR ~5–8dB) despite healthy-looking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training curves the entire time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Root cause confirmed empirically: measured correlation of generator output against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both the inverted input (–0.96) and the original image (+0.96) — proved the model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learned the wrong mapping, not just a training instability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Fixed by training on inverted-domain targets to match production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Caught via a dedicated visual + statistical check — training metrics alone never revealed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Training Improvements — Paper-Compatible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VGG perceptual loss at relu3_4 (not the deeper relu5_4) — shallow layers capture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generic texture/edges, avoiding ImageNet object-level hallucination on tissue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Relativistic discriminator (RaGAN) — same 8-conv-layer network, sharper gradient signal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Differentiable augmentation — guards against discriminator overfitting a ~4,300-image set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ICNR initialization — eliminates checkerboard artifacts from step one of training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EMA-smoothed final weights + cosine LR schedule with warm-restart capability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Loss weights rebalanced from *measured* raw magnitudes, not guesswork —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caught content loss silently dominating 99% of the gradient before it wrecked a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None of these change the paper's specified architecture — training-process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Results vs. the Paper's Reported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F8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Paper (Table 8)</a:t>
                      </a:r>
                    </a:p>
                  </a:txBody>
                  <a:tcPr>
                    <a:solidFill>
                      <a:srgbClr val="4F8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Our result</a:t>
                      </a:r>
                    </a:p>
                  </a:txBody>
                  <a:tcPr>
                    <a:solidFill>
                      <a:srgbClr val="4F8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PSNR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26.44 dB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~21–22 dB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0.9232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~0.85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LPIPS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336"/>
                          </a:solidFill>
                        </a:defRPr>
                      </a:pPr>
                      <a:r>
                        <a:t>0.1324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~0.21–0.22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01752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36"/>
                </a:solidFill>
              </a:defRPr>
            </a:pPr>
            <a:r>
              <a:t>• Gap is expected and explainable: the paper does not publish its exact loss weights,</a:t>
            </a:r>
          </a:p>
          <a:p>
            <a:pPr>
              <a:spcAft>
                <a:spcPts val="400"/>
              </a:spcAft>
              <a:defRPr sz="1300">
                <a:solidFill>
                  <a:srgbClr val="5A6378"/>
                </a:solidFill>
              </a:defRPr>
            </a:pPr>
            <a:r>
              <a:t>   – epoch count, batch size, or train/val split</a:t>
            </a:r>
          </a:p>
          <a:p>
            <a:pPr>
              <a:spcAft>
                <a:spcPts val="1000"/>
              </a:spcAft>
              <a:defRPr sz="1600">
                <a:solidFill>
                  <a:srgbClr val="1E2336"/>
                </a:solidFill>
              </a:defRPr>
            </a:pPr>
            <a:r>
              <a:t>• Our dataset (~4,800 images) draws from the same 3 public sources the paper names</a:t>
            </a:r>
          </a:p>
          <a:p>
            <a:pPr>
              <a:spcAft>
                <a:spcPts val="1000"/>
              </a:spcAft>
              <a:defRPr sz="1600">
                <a:solidFill>
                  <a:srgbClr val="1E2336"/>
                </a:solidFill>
              </a:defRPr>
            </a:pPr>
            <a:r>
              <a:t>• Training verified healthy throughout (stable discriminator, balanced loss terms) —</a:t>
            </a:r>
          </a:p>
          <a:p>
            <a:pPr>
              <a:spcAft>
                <a:spcPts val="400"/>
              </a:spcAft>
              <a:defRPr sz="1300">
                <a:solidFill>
                  <a:srgbClr val="5A6378"/>
                </a:solidFill>
              </a:defRPr>
            </a:pPr>
            <a:r>
              <a:t>   – the gap is a convergence/tuning ceiling, not a broken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In the right range, not an exact match — honestly reported, not hidden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Explored: Real-ESRGAN Transfer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Hypothesis: fine-tuning a large pretrained generator (RRDBNet, ~16.7M params) beats</a:t>
            </a:r>
          </a:p>
          <a:p>
            <a:pPr>
              <a:spcAft>
                <a:spcPts val="400"/>
              </a:spcAft>
              <a:defRPr sz="1400">
                <a:solidFill>
                  <a:srgbClr val="5A6378"/>
                </a:solidFill>
              </a:defRPr>
            </a:pPr>
            <a:r>
              <a:t>   – training our from-scratch generator (~1.4M params) on a small dataset</a:t>
            </a:r>
          </a:p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Built as a fully separate, opt-in path — paper-faithful model untouched</a:t>
            </a:r>
          </a:p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Official Real-ESRGAN weights verified to load with zero missing/unexpected keys</a:t>
            </a:r>
          </a:p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Training instability observed during fine-tuning:</a:t>
            </a:r>
          </a:p>
          <a:p>
            <a:pPr>
              <a:spcAft>
                <a:spcPts val="400"/>
              </a:spcAft>
              <a:defRPr sz="1400">
                <a:solidFill>
                  <a:srgbClr val="5A6378"/>
                </a:solidFill>
              </a:defRPr>
            </a:pPr>
            <a:r>
              <a:t>   – progressively dominated late in training (D dropping, adversarial loss climbing)</a:t>
            </a:r>
          </a:p>
          <a:p>
            <a:pPr>
              <a:spcAft>
                <a:spcPts val="1000"/>
              </a:spcAft>
              <a:defRPr sz="1700">
                <a:solidFill>
                  <a:srgbClr val="1E2336"/>
                </a:solidFill>
              </a:defRPr>
            </a:pPr>
            <a:r>
              <a:t>• Root cause identified: a 10x generator/discriminator learning-rate gap, both on</a:t>
            </a:r>
          </a:p>
          <a:p>
            <a:pPr>
              <a:spcAft>
                <a:spcPts val="400"/>
              </a:spcAft>
              <a:defRPr sz="1400">
                <a:solidFill>
                  <a:srgbClr val="5A6378"/>
                </a:solidFill>
              </a:defRPr>
            </a:pPr>
            <a:r>
              <a:t>   – the same decay schedule, let the discriminator retain relative advantage late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An honest negative result with a diagnosed cause — not a failure to hide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Deliverable: Interactive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Flask backend running the full enhancement pipeline end-to-end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Responsive UI: drag-and-drop upload, live parameter sliders, before/after slider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SRGAN on/off toggle — compare classical-only vs. full model output directly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Live PSNR / SSIM / MSE / LPIPS metrics displayed per result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Model-status transparency banner — always shows whether a trained checkpoint or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the classical fallback produced the current result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Accessible (proper label associations, focus states) and mobile-responsive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A working, demoable tool — not just training scripts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App in Action — Real Output</a:t>
            </a:r>
          </a:p>
          <a:p>
            <a:pPr>
              <a:defRPr sz="1500">
                <a:solidFill>
                  <a:srgbClr val="5A6378"/>
                </a:solidFill>
              </a:defRPr>
            </a:pPr>
            <a:r>
              <a:t>Original vs. Enhanced with live metrics, as generated by the app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9e0599314384ae0afc110ee214c8da7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353" y="1600200"/>
            <a:ext cx="5384988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864514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A637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Generated by build_comparison_image() in enhance.py from a real /enhance request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336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280160" cy="50800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Successfully reproduced the paper's architecture faithfully, resolving its own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internal ambiguities with documented reasoning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Found and fixed a genuine, high-impact training/inference bug (domain mismatch)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Improved training stability and quality via literature-backed, paper-compatible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techniques — each individually verified with real training runs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Achieved results in the right range of the paper's targets, honestly reported</a:t>
            </a:r>
          </a:p>
          <a:p>
            <a:pPr>
              <a:spcAft>
                <a:spcPts val="1000"/>
              </a:spcAft>
              <a:defRPr sz="1800">
                <a:solidFill>
                  <a:srgbClr val="1E2336"/>
                </a:solidFill>
              </a:defRPr>
            </a:pPr>
            <a:r>
              <a:t>• Open threads: finish the warm-restart training run; fix the RRDB LR-coupling</a:t>
            </a:r>
          </a:p>
          <a:p>
            <a:pPr>
              <a:spcAft>
                <a:spcPts val="400"/>
              </a:spcAft>
              <a:defRPr sz="1500">
                <a:solidFill>
                  <a:srgbClr val="5A6378"/>
                </a:solidFill>
              </a:defRPr>
            </a:pPr>
            <a:r>
              <a:t>   – issue and re-evaluate the transfer-learning alternative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378"/>
                </a:solidFill>
              </a:defRPr>
            </a:pPr>
            <a:r>
              <a:t>Endoscopy Image Enhancement — CLAHE + Hu-WBI + Unsharp Masking + SRGAN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