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SpecialPlsOnTitleSld="0" strictFirstAndLastChars="0" saveSubsetFonts="1" autoCompressPictures="0">
  <p:sldMasterIdLst>
    <p:sldMasterId id="2147483649" r:id="rId3"/>
  </p:sldMasterIdLst>
  <p:notesMasterIdLst>
    <p:notesMasterId r:id="rId4"/>
  </p:notesMasterIdLst>
  <p:sldIdLst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8.xml" Id="rId22" /><Relationship Type="http://schemas.openxmlformats.org/officeDocument/2006/relationships/slide" Target="/ppt/slides/slide20.xml" Id="rId24" /><Relationship Type="http://schemas.openxmlformats.org/officeDocument/2006/relationships/slide" Target="/ppt/slides/slide19.xml" Id="rId23" /><Relationship Type="http://schemas.openxmlformats.org/officeDocument/2006/relationships/theme" Target="/ppt/theme/theme1.xml" Id="rId1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3" /><Relationship Type="http://schemas.openxmlformats.org/officeDocument/2006/relationships/notesMaster" Target="/ppt/notesMasters/notesMaster1.xml" Id="rId4" /><Relationship Type="http://schemas.openxmlformats.org/officeDocument/2006/relationships/slide" Target="/ppt/slides/slide22.xml" Id="rId26" /><Relationship Type="http://schemas.openxmlformats.org/officeDocument/2006/relationships/slide" Target="/ppt/slides/slide21.xml" Id="rId25" /><Relationship Type="http://schemas.openxmlformats.org/officeDocument/2006/relationships/slide" Target="/ppt/slides/slide24.xml" Id="rId28" /><Relationship Type="http://schemas.openxmlformats.org/officeDocument/2006/relationships/slide" Target="/ppt/slides/slide23.xml" Id="rId27" /><Relationship Type="http://schemas.openxmlformats.org/officeDocument/2006/relationships/slide" Target="/ppt/slides/slide25.xml" Id="rId29" /><Relationship Type="http://schemas.openxmlformats.org/officeDocument/2006/relationships/slide" Target="/ppt/slides/slide27.xml" Id="rId31" /><Relationship Type="http://schemas.openxmlformats.org/officeDocument/2006/relationships/slide" Target="/ppt/slides/slide26.xml" Id="rI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1" /></Relationship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721b87e21_17_2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721b87e21_17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721b87e21_17_2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721b87e21_17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721b87e21_17_2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f721b87e21_17_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721b87e21_17_3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f721b87e21_17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721b87e21_17_3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721b87e21_17_3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721b87e21_17_3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f721b87e21_17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721b87e21_17_3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721b87e21_17_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721b87e21_17_3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f721b87e21_17_3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721b87e21_17_3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f721b87e21_17_3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721b87e21_17_4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f721b87e21_17_4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8.xml" Id="rI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9.xml" Id="rI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0.xml" Id="rI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1.xml" Id="rI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2.xml" Id="rId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3.xml" Id="rId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4.xml" Id="rI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5.xml" Id="rId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6.xml" Id="rId2" /><Relationship Type="http://schemas.openxmlformats.org/officeDocument/2006/relationships/image" Target="/ppt/media/image13.png" Id="rId3" /><Relationship Type="http://schemas.openxmlformats.org/officeDocument/2006/relationships/image" Target="/ppt/media/image15.png" Id="rId4" /><Relationship Type="http://schemas.openxmlformats.org/officeDocument/2006/relationships/image" Target="/ppt/media/image11.png" Id="rId5" /><Relationship Type="http://schemas.openxmlformats.org/officeDocument/2006/relationships/image" Target="/ppt/media/image12.png" Id="rI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7.xml" Id="rId2" /><Relationship Type="http://schemas.openxmlformats.org/officeDocument/2006/relationships/image" Target="/ppt/media/image18.png" Id="rId3" /><Relationship Type="http://schemas.openxmlformats.org/officeDocument/2006/relationships/image" Target="/ppt/media/image14.png" Id="rId4" /><Relationship Type="http://schemas.openxmlformats.org/officeDocument/2006/relationships/image" Target="/ppt/media/image16.png" Id="rId5" /><Relationship Type="http://schemas.openxmlformats.org/officeDocument/2006/relationships/image" Target="/ppt/media/image19.png" Id="rId6" /></Relationships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Implementation corrections and experimental extensions to the SRGAN stage</a:t>
            </a:r>
            <a:endParaRPr/>
          </a:p>
        </p:txBody>
      </p:sp>
      <p:sp>
        <p:nvSpPr>
          <p:cNvPr id="369" name="Google Shape;369;p20"/>
          <p:cNvSpPr txBox="1"/>
          <p:nvPr/>
        </p:nvSpPr>
        <p:spPr>
          <a:xfrm>
            <a:off x="548640" y="1560000"/>
            <a:ext cx="110946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the paper's SRGAN component end-to-end -- not just implementing its architecture -- surfaced issues only visible once real data moved through the training loop. This section documents what was found, corrected and verified, alongside two further extensions that remain open experiments.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548640" y="2650000"/>
            <a:ext cx="5410200" cy="33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822960" y="2924320"/>
            <a:ext cx="457200" cy="457200"/>
          </a:xfrm>
          <a:prstGeom prst="ellipse">
            <a:avLst/>
          </a:prstGeom>
          <a:solidFill>
            <a:srgbClr val="0B6E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822960" y="2924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1463040" y="2970000"/>
            <a:ext cx="4320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Corrections -- verified</a:t>
            </a:r>
            <a:endParaRPr/>
          </a:p>
        </p:txBody>
      </p:sp>
      <p:sp>
        <p:nvSpPr>
          <p:cNvPr id="374" name="Google Shape;374;p20"/>
          <p:cNvSpPr txBox="1"/>
          <p:nvPr/>
        </p:nvSpPr>
        <p:spPr>
          <a:xfrm>
            <a:off x="822960" y="3610000"/>
            <a:ext cx="4861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alignment, loss-term rebalancing, the LR warm-restart schedule, the VGG perceptual-loss layer, and CLAHE clip-limit tuning. Each backed by measured before/after numbers.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233160" y="2650000"/>
            <a:ext cx="5410200" cy="33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6507480" y="2924320"/>
            <a:ext cx="457200" cy="457200"/>
          </a:xfrm>
          <a:prstGeom prst="ellipse">
            <a:avLst/>
          </a:prstGeom>
          <a:solidFill>
            <a:srgbClr val="B553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6507480" y="2924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378" name="Google Shape;378;p20"/>
          <p:cNvSpPr txBox="1"/>
          <p:nvPr/>
        </p:nvSpPr>
        <p:spPr>
          <a:xfrm>
            <a:off x="7147560" y="2970000"/>
            <a:ext cx="4320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Experimental extensions -- open</a:t>
            </a:r>
            <a:endParaRPr/>
          </a:p>
        </p:txBody>
      </p:sp>
      <p:sp>
        <p:nvSpPr>
          <p:cNvPr id="379" name="Google Shape;379;p20"/>
          <p:cNvSpPr txBox="1"/>
          <p:nvPr/>
        </p:nvSpPr>
        <p:spPr>
          <a:xfrm>
            <a:off x="6507480" y="3610000"/>
            <a:ext cx="48615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RRDB/Real-ESRGAN transfer learning and a YIQ colour-space variant. Both tested on a real image; neither yet outperforms the paper-faithful baseline.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80" name="Google Shape;380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CORRECTION 1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Aligning the training and inference domains</a:t>
            </a:r>
            <a:endParaRPr/>
          </a:p>
        </p:txBody>
      </p:sp>
      <p:sp>
        <p:nvSpPr>
          <p:cNvPr id="387" name="Google Shape;387;p21"/>
          <p:cNvSpPr txBox="1"/>
          <p:nvPr/>
        </p:nvSpPr>
        <p:spPr>
          <a:xfrm>
            <a:off x="548640" y="1560000"/>
            <a:ext cx="110946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generator's high-resolution training target was built from the raw brightness channel, while the pipeline itself operates entirely in an inverted, gamma-corrected domain and only un-inverts once, at the very end. Left mismatched, the generator learns to undo the inversion as part of super-resolution -- so inference then inverts a second time, producing near-negative output.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822960" y="3078600"/>
            <a:ext cx="486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BEFORE (mismatched)</a:t>
            </a:r>
            <a:endParaRPr sz="1800"/>
          </a:p>
        </p:txBody>
      </p:sp>
      <p:sp>
        <p:nvSpPr>
          <p:cNvPr id="389" name="Google Shape;389;p21"/>
          <p:cNvSpPr txBox="1"/>
          <p:nvPr/>
        </p:nvSpPr>
        <p:spPr>
          <a:xfrm>
            <a:off x="822960" y="3490080"/>
            <a:ext cx="48615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HR target = raw V channel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LR input = pre_srgan_v(downsample(V))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domains mismatched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6507480" y="3078600"/>
            <a:ext cx="486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AFTER (aligned)</a:t>
            </a:r>
            <a:endParaRPr sz="1800"/>
          </a:p>
        </p:txBody>
      </p:sp>
      <p:sp>
        <p:nvSpPr>
          <p:cNvPr id="391" name="Google Shape;391;p21"/>
          <p:cNvSpPr txBox="1"/>
          <p:nvPr/>
        </p:nvSpPr>
        <p:spPr>
          <a:xfrm>
            <a:off x="6507480" y="3490080"/>
            <a:ext cx="48615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HR target = pre_srgan_v(V)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LR input = pre_srgan_v(downsample(V))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same domain on both sides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548640" y="5233320"/>
            <a:ext cx="11094600" cy="73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822940" y="5449020"/>
            <a:ext cx="399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Measured impact (real image)</a:t>
            </a:r>
            <a:endParaRPr sz="1800"/>
          </a:p>
        </p:txBody>
      </p:sp>
      <p:sp>
        <p:nvSpPr>
          <p:cNvPr id="394" name="Google Shape;394;p21"/>
          <p:cNvSpPr txBox="1"/>
          <p:nvPr/>
        </p:nvSpPr>
        <p:spPr>
          <a:xfrm>
            <a:off x="4822840" y="5422020"/>
            <a:ext cx="339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5533C"/>
                </a:solidFill>
                <a:latin typeface="Cambria"/>
                <a:ea typeface="Cambria"/>
                <a:cs typeface="Cambria"/>
                <a:sym typeface="Cambria"/>
              </a:rPr>
              <a:t>~5–8 dB</a:t>
            </a:r>
            <a:r>
              <a:rPr b="0" i="0" lang="en-US" sz="17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 mismatched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8222740" y="542202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B6E6E"/>
                </a:solidFill>
                <a:latin typeface="Cambria"/>
                <a:ea typeface="Cambria"/>
                <a:cs typeface="Cambria"/>
                <a:sym typeface="Cambria"/>
              </a:rPr>
              <a:t>→ ~21–24 dB</a:t>
            </a:r>
            <a:r>
              <a:rPr b="0" i="0" lang="en-US" sz="17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 aligned</a:t>
            </a:r>
            <a:endParaRPr/>
          </a:p>
        </p:txBody>
      </p:sp>
      <p:sp>
        <p:nvSpPr>
          <p:cNvPr id="396" name="Google Shape;396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CORRECTION 2</a:t>
            </a:r>
            <a:endParaRPr/>
          </a:p>
        </p:txBody>
      </p:sp>
      <p:sp>
        <p:nvSpPr>
          <p:cNvPr id="402" name="Google Shape;402;p22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Rebalancing the composite loss function</a:t>
            </a:r>
            <a:endParaRPr/>
          </a:p>
        </p:txBody>
      </p:sp>
      <p:sp>
        <p:nvSpPr>
          <p:cNvPr id="403" name="Google Shape;403;p22"/>
          <p:cNvSpPr txBox="1"/>
          <p:nvPr/>
        </p:nvSpPr>
        <p:spPr>
          <a:xfrm>
            <a:off x="548640" y="1560000"/>
            <a:ext cx="110946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per-term loss magnitudes were logged during training rather than assumed. Content loss was found to dominate the total weighted loss almost completely: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548640" y="2400000"/>
            <a:ext cx="3200000" cy="5000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31520" y="2400000"/>
            <a:ext cx="28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Loss term</a:t>
            </a:r>
            <a:endParaRPr sz="2000"/>
          </a:p>
        </p:txBody>
      </p:sp>
      <p:sp>
        <p:nvSpPr>
          <p:cNvPr id="406" name="Google Shape;406;p22"/>
          <p:cNvSpPr/>
          <p:nvPr/>
        </p:nvSpPr>
        <p:spPr>
          <a:xfrm>
            <a:off x="3748640" y="2400000"/>
            <a:ext cx="4800000" cy="5000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3931520" y="2400000"/>
            <a:ext cx="443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 before → after</a:t>
            </a:r>
            <a:endParaRPr sz="2000"/>
          </a:p>
        </p:txBody>
      </p:sp>
      <p:sp>
        <p:nvSpPr>
          <p:cNvPr id="408" name="Google Shape;408;p22"/>
          <p:cNvSpPr/>
          <p:nvPr/>
        </p:nvSpPr>
        <p:spPr>
          <a:xfrm>
            <a:off x="8548640" y="2400000"/>
            <a:ext cx="3064240" cy="5000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8731520" y="2400000"/>
            <a:ext cx="269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Contribution before</a:t>
            </a:r>
            <a:endParaRPr sz="2000"/>
          </a:p>
        </p:txBody>
      </p:sp>
      <p:sp>
        <p:nvSpPr>
          <p:cNvPr id="410" name="Google Shape;410;p22"/>
          <p:cNvSpPr/>
          <p:nvPr/>
        </p:nvSpPr>
        <p:spPr>
          <a:xfrm>
            <a:off x="548640" y="2900000"/>
            <a:ext cx="320000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31520" y="2900000"/>
            <a:ext cx="283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Pixel (L1)</a:t>
            </a:r>
            <a:endParaRPr sz="2000"/>
          </a:p>
        </p:txBody>
      </p:sp>
      <p:sp>
        <p:nvSpPr>
          <p:cNvPr id="412" name="Google Shape;412;p22"/>
          <p:cNvSpPr/>
          <p:nvPr/>
        </p:nvSpPr>
        <p:spPr>
          <a:xfrm>
            <a:off x="3748640" y="2900000"/>
            <a:ext cx="480000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3931520" y="2900000"/>
            <a:ext cx="4434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0.01 → 1.0</a:t>
            </a:r>
            <a:endParaRPr sz="2000"/>
          </a:p>
        </p:txBody>
      </p:sp>
      <p:sp>
        <p:nvSpPr>
          <p:cNvPr id="414" name="Google Shape;414;p22"/>
          <p:cNvSpPr/>
          <p:nvPr/>
        </p:nvSpPr>
        <p:spPr>
          <a:xfrm>
            <a:off x="8548640" y="2900000"/>
            <a:ext cx="306424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8731520" y="2900000"/>
            <a:ext cx="269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B5533C"/>
                </a:solidFill>
                <a:latin typeface="Cambria"/>
                <a:ea typeface="Cambria"/>
                <a:cs typeface="Cambria"/>
                <a:sym typeface="Cambria"/>
              </a:rPr>
              <a:t>0.1%</a:t>
            </a:r>
            <a:endParaRPr sz="2000"/>
          </a:p>
        </p:txBody>
      </p:sp>
      <p:sp>
        <p:nvSpPr>
          <p:cNvPr id="416" name="Google Shape;416;p22"/>
          <p:cNvSpPr/>
          <p:nvPr/>
        </p:nvSpPr>
        <p:spPr>
          <a:xfrm>
            <a:off x="548640" y="3400000"/>
            <a:ext cx="320000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2"/>
          <p:cNvSpPr txBox="1"/>
          <p:nvPr/>
        </p:nvSpPr>
        <p:spPr>
          <a:xfrm>
            <a:off x="731520" y="3400000"/>
            <a:ext cx="283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Content (VGG)</a:t>
            </a:r>
            <a:endParaRPr sz="2000"/>
          </a:p>
        </p:txBody>
      </p:sp>
      <p:sp>
        <p:nvSpPr>
          <p:cNvPr id="418" name="Google Shape;418;p22"/>
          <p:cNvSpPr/>
          <p:nvPr/>
        </p:nvSpPr>
        <p:spPr>
          <a:xfrm>
            <a:off x="3748640" y="3400000"/>
            <a:ext cx="480000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>
            <a:off x="3931520" y="3400000"/>
            <a:ext cx="4434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1.0 → 0.05</a:t>
            </a:r>
            <a:endParaRPr sz="2000"/>
          </a:p>
        </p:txBody>
      </p:sp>
      <p:sp>
        <p:nvSpPr>
          <p:cNvPr id="420" name="Google Shape;420;p22"/>
          <p:cNvSpPr/>
          <p:nvPr/>
        </p:nvSpPr>
        <p:spPr>
          <a:xfrm>
            <a:off x="8548640" y="3400000"/>
            <a:ext cx="306424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8731520" y="3400000"/>
            <a:ext cx="269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B5533C"/>
                </a:solidFill>
                <a:latin typeface="Cambria"/>
                <a:ea typeface="Cambria"/>
                <a:cs typeface="Cambria"/>
                <a:sym typeface="Cambria"/>
              </a:rPr>
              <a:t>98.8%</a:t>
            </a:r>
            <a:endParaRPr sz="2000"/>
          </a:p>
        </p:txBody>
      </p:sp>
      <p:sp>
        <p:nvSpPr>
          <p:cNvPr id="422" name="Google Shape;422;p22"/>
          <p:cNvSpPr/>
          <p:nvPr/>
        </p:nvSpPr>
        <p:spPr>
          <a:xfrm>
            <a:off x="548640" y="3900000"/>
            <a:ext cx="320000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731520" y="3900000"/>
            <a:ext cx="283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Adversarial (RaGAN)</a:t>
            </a:r>
            <a:endParaRPr sz="2000"/>
          </a:p>
        </p:txBody>
      </p:sp>
      <p:sp>
        <p:nvSpPr>
          <p:cNvPr id="424" name="Google Shape;424;p22"/>
          <p:cNvSpPr/>
          <p:nvPr/>
        </p:nvSpPr>
        <p:spPr>
          <a:xfrm>
            <a:off x="3748640" y="3900000"/>
            <a:ext cx="480000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2"/>
          <p:cNvSpPr txBox="1"/>
          <p:nvPr/>
        </p:nvSpPr>
        <p:spPr>
          <a:xfrm>
            <a:off x="3931520" y="3900000"/>
            <a:ext cx="4434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0.001 → 0.03</a:t>
            </a:r>
            <a:endParaRPr sz="2000"/>
          </a:p>
        </p:txBody>
      </p:sp>
      <p:sp>
        <p:nvSpPr>
          <p:cNvPr id="426" name="Google Shape;426;p22"/>
          <p:cNvSpPr/>
          <p:nvPr/>
        </p:nvSpPr>
        <p:spPr>
          <a:xfrm>
            <a:off x="8548640" y="3900000"/>
            <a:ext cx="306424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8731520" y="3900000"/>
            <a:ext cx="269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B5533C"/>
                </a:solidFill>
                <a:latin typeface="Cambria"/>
                <a:ea typeface="Cambria"/>
                <a:cs typeface="Cambria"/>
                <a:sym typeface="Cambria"/>
              </a:rPr>
              <a:t>0.8%</a:t>
            </a:r>
            <a:endParaRPr sz="2000"/>
          </a:p>
        </p:txBody>
      </p:sp>
      <p:sp>
        <p:nvSpPr>
          <p:cNvPr id="428" name="Google Shape;428;p22"/>
          <p:cNvSpPr/>
          <p:nvPr/>
        </p:nvSpPr>
        <p:spPr>
          <a:xfrm>
            <a:off x="548640" y="4400000"/>
            <a:ext cx="320000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731520" y="4400000"/>
            <a:ext cx="283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High-pass (HPF)</a:t>
            </a:r>
            <a:endParaRPr sz="2000"/>
          </a:p>
        </p:txBody>
      </p:sp>
      <p:sp>
        <p:nvSpPr>
          <p:cNvPr id="430" name="Google Shape;430;p22"/>
          <p:cNvSpPr/>
          <p:nvPr/>
        </p:nvSpPr>
        <p:spPr>
          <a:xfrm>
            <a:off x="3748640" y="4400000"/>
            <a:ext cx="480000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3931520" y="4400000"/>
            <a:ext cx="4434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0.1 → 1.0</a:t>
            </a:r>
            <a:endParaRPr sz="2000"/>
          </a:p>
        </p:txBody>
      </p:sp>
      <p:sp>
        <p:nvSpPr>
          <p:cNvPr id="432" name="Google Shape;432;p22"/>
          <p:cNvSpPr/>
          <p:nvPr/>
        </p:nvSpPr>
        <p:spPr>
          <a:xfrm>
            <a:off x="8548640" y="4400000"/>
            <a:ext cx="3064240" cy="5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8731520" y="4400000"/>
            <a:ext cx="269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B5533C"/>
                </a:solidFill>
                <a:latin typeface="Cambria"/>
                <a:ea typeface="Cambria"/>
                <a:cs typeface="Cambria"/>
                <a:sym typeface="Cambria"/>
              </a:rPr>
              <a:t>0.25%</a:t>
            </a:r>
            <a:endParaRPr sz="2000"/>
          </a:p>
        </p:txBody>
      </p:sp>
      <p:sp>
        <p:nvSpPr>
          <p:cNvPr id="434" name="Google Shape;434;p22"/>
          <p:cNvSpPr txBox="1"/>
          <p:nvPr/>
        </p:nvSpPr>
        <p:spPr>
          <a:xfrm>
            <a:off x="548640" y="5037160"/>
            <a:ext cx="1109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rebalancing (measured via smoke-test logging), all four terms fall within a 13–39% contribution band — no single term dominates.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35" name="Google Shape;435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CORRECTION 3</a:t>
            </a:r>
            <a:endParaRPr/>
          </a:p>
        </p:txBody>
      </p:sp>
      <p:sp>
        <p:nvSpPr>
          <p:cNvPr id="441" name="Google Shape;441;p23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Stabilizing adversarial training</a:t>
            </a:r>
            <a:endParaRPr/>
          </a:p>
        </p:txBody>
      </p:sp>
      <p:sp>
        <p:nvSpPr>
          <p:cNvPr id="442" name="Google Shape;442;p23"/>
          <p:cNvSpPr txBox="1"/>
          <p:nvPr/>
        </p:nvSpPr>
        <p:spPr>
          <a:xfrm>
            <a:off x="548640" y="1560000"/>
            <a:ext cx="110946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standard GAN-training techniques were added to keep the discriminator and generator in balance on a small (~4,300 image) dataset: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731520" y="2432880"/>
            <a:ext cx="365760" cy="365760"/>
          </a:xfrm>
          <a:prstGeom prst="ellipse">
            <a:avLst/>
          </a:prstGeom>
          <a:solidFill>
            <a:srgbClr val="0B6E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 txBox="1"/>
          <p:nvPr/>
        </p:nvSpPr>
        <p:spPr>
          <a:xfrm>
            <a:off x="731520" y="2432880"/>
            <a:ext cx="3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/>
          </a:p>
        </p:txBody>
      </p:sp>
      <p:sp>
        <p:nvSpPr>
          <p:cNvPr id="445" name="Google Shape;445;p23"/>
          <p:cNvSpPr txBox="1"/>
          <p:nvPr/>
        </p:nvSpPr>
        <p:spPr>
          <a:xfrm>
            <a:off x="731520" y="2890080"/>
            <a:ext cx="2270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RaGAN loss</a:t>
            </a:r>
            <a:endParaRPr sz="2000"/>
          </a:p>
        </p:txBody>
      </p:sp>
      <p:sp>
        <p:nvSpPr>
          <p:cNvPr id="446" name="Google Shape;446;p23"/>
          <p:cNvSpPr txBox="1"/>
          <p:nvPr/>
        </p:nvSpPr>
        <p:spPr>
          <a:xfrm>
            <a:off x="640025" y="3597775"/>
            <a:ext cx="24537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Discriminator judges “more realistic than the other,” not absolute real/fake — smoother gradients than plain BCE.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3550920" y="2432880"/>
            <a:ext cx="365760" cy="365760"/>
          </a:xfrm>
          <a:prstGeom prst="ellipse">
            <a:avLst/>
          </a:prstGeom>
          <a:solidFill>
            <a:srgbClr val="0B6E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3550920" y="2432880"/>
            <a:ext cx="3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/>
          </a:p>
        </p:txBody>
      </p:sp>
      <p:sp>
        <p:nvSpPr>
          <p:cNvPr id="449" name="Google Shape;449;p23"/>
          <p:cNvSpPr txBox="1"/>
          <p:nvPr/>
        </p:nvSpPr>
        <p:spPr>
          <a:xfrm>
            <a:off x="3550920" y="2890080"/>
            <a:ext cx="22707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Differentiable augmentation</a:t>
            </a:r>
            <a:endParaRPr sz="2000"/>
          </a:p>
        </p:txBody>
      </p:sp>
      <p:sp>
        <p:nvSpPr>
          <p:cNvPr id="450" name="Google Shape;450;p23"/>
          <p:cNvSpPr txBox="1"/>
          <p:nvPr/>
        </p:nvSpPr>
        <p:spPr>
          <a:xfrm>
            <a:off x="3550920" y="3597775"/>
            <a:ext cx="22707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Brightness/contrast/translation/cutout applied before the discriminator sees a batch — guards against overfitting.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6370320" y="2432880"/>
            <a:ext cx="365760" cy="365760"/>
          </a:xfrm>
          <a:prstGeom prst="ellipse">
            <a:avLst/>
          </a:prstGeom>
          <a:solidFill>
            <a:srgbClr val="0B6E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6370320" y="2432880"/>
            <a:ext cx="3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/>
          </a:p>
        </p:txBody>
      </p:sp>
      <p:sp>
        <p:nvSpPr>
          <p:cNvPr id="453" name="Google Shape;453;p23"/>
          <p:cNvSpPr txBox="1"/>
          <p:nvPr/>
        </p:nvSpPr>
        <p:spPr>
          <a:xfrm>
            <a:off x="6370320" y="2890080"/>
            <a:ext cx="2270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ICNR initialization</a:t>
            </a:r>
            <a:endParaRPr sz="2000"/>
          </a:p>
        </p:txBody>
      </p:sp>
      <p:sp>
        <p:nvSpPr>
          <p:cNvPr id="454" name="Google Shape;454;p23"/>
          <p:cNvSpPr txBox="1"/>
          <p:nvPr/>
        </p:nvSpPr>
        <p:spPr>
          <a:xfrm>
            <a:off x="6370320" y="3597775"/>
            <a:ext cx="22707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PixelShuffle upsampling initialized to avoid checkerboard artifacts from the start of training.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9189720" y="2432880"/>
            <a:ext cx="365760" cy="365760"/>
          </a:xfrm>
          <a:prstGeom prst="ellipse">
            <a:avLst/>
          </a:prstGeom>
          <a:solidFill>
            <a:srgbClr val="0B6E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9189720" y="2432880"/>
            <a:ext cx="3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000"/>
          </a:p>
        </p:txBody>
      </p:sp>
      <p:sp>
        <p:nvSpPr>
          <p:cNvPr id="457" name="Google Shape;457;p23"/>
          <p:cNvSpPr txBox="1"/>
          <p:nvPr/>
        </p:nvSpPr>
        <p:spPr>
          <a:xfrm>
            <a:off x="9189720" y="2890080"/>
            <a:ext cx="22707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EMA of generator weights</a:t>
            </a:r>
            <a:endParaRPr sz="2000"/>
          </a:p>
        </p:txBody>
      </p:sp>
      <p:sp>
        <p:nvSpPr>
          <p:cNvPr id="458" name="Google Shape;458;p23"/>
          <p:cNvSpPr txBox="1"/>
          <p:nvPr/>
        </p:nvSpPr>
        <p:spPr>
          <a:xfrm>
            <a:off x="9189725" y="3597775"/>
            <a:ext cx="2270700" cy="12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checkpoint uses an exponential moving average, smoothing out late-training noise.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59" name="Google Shape;459;p23"/>
          <p:cNvSpPr txBox="1"/>
          <p:nvPr/>
        </p:nvSpPr>
        <p:spPr>
          <a:xfrm>
            <a:off x="822960" y="5384548"/>
            <a:ext cx="1054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Learning-rate warm-restart correction</a:t>
            </a:r>
            <a:endParaRPr sz="2000"/>
          </a:p>
        </p:txBody>
      </p:sp>
      <p:sp>
        <p:nvSpPr>
          <p:cNvPr id="460" name="Google Shape;460;p23"/>
          <p:cNvSpPr txBox="1"/>
          <p:nvPr/>
        </p:nvSpPr>
        <p:spPr>
          <a:xfrm>
            <a:off x="822960" y="5727448"/>
            <a:ext cx="1054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Before:</a:t>
            </a: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LR stayed flat at 1e-6 across the resumed run.   </a:t>
            </a: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After: 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correctly restarts to 5.05e-5, then decays to eta_min again.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461" name="Google Shape;461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CORRECTION 4</a:t>
            </a:r>
            <a:endParaRPr/>
          </a:p>
        </p:txBody>
      </p:sp>
      <p:sp>
        <p:nvSpPr>
          <p:cNvPr id="467" name="Google Shape;467;p2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Choosing a shallower VGG perceptual-loss layer</a:t>
            </a:r>
            <a:endParaRPr/>
          </a:p>
        </p:txBody>
      </p:sp>
      <p:sp>
        <p:nvSpPr>
          <p:cNvPr id="468" name="Google Shape;468;p24"/>
          <p:cNvSpPr txBox="1"/>
          <p:nvPr/>
        </p:nvSpPr>
        <p:spPr>
          <a:xfrm>
            <a:off x="548640" y="1560000"/>
            <a:ext cx="110946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content-loss term compares generator output and target through a pretrained VGG network's features rather than raw pixels. Deeper layers (relu5_4) encode ImageNet object-level semantics -- dog ears, car wheels -- which is a real hallucination risk when applied to endoscopy images, a domain VGG was never trained on. Shallower layers (relu3_4) encode generic texture and edge structure instead, which transfers far more safely to an out-of-domain image type.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822960" y="4245075"/>
            <a:ext cx="486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relu5_4 (before)</a:t>
            </a:r>
            <a:endParaRPr sz="2200"/>
          </a:p>
        </p:txBody>
      </p:sp>
      <p:sp>
        <p:nvSpPr>
          <p:cNvPr id="470" name="Google Shape;470;p24"/>
          <p:cNvSpPr txBox="1"/>
          <p:nvPr/>
        </p:nvSpPr>
        <p:spPr>
          <a:xfrm>
            <a:off x="822960" y="4656555"/>
            <a:ext cx="48615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Deep, object-level features (features[:36]) -- risks hallucinating ImageNet-style objects onto tissue texture.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6507480" y="4245075"/>
            <a:ext cx="486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relu3_4 (after)</a:t>
            </a:r>
            <a:endParaRPr sz="2200"/>
          </a:p>
        </p:txBody>
      </p:sp>
      <p:sp>
        <p:nvSpPr>
          <p:cNvPr id="472" name="Google Shape;472;p24"/>
          <p:cNvSpPr txBox="1"/>
          <p:nvPr/>
        </p:nvSpPr>
        <p:spPr>
          <a:xfrm>
            <a:off x="6507480" y="4656555"/>
            <a:ext cx="48615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Shallower, generic texture/edge features (features[:18]) -- matches structure without imposing semantic priors.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73" name="Google Shape;473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5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CORRECTION 5</a:t>
            </a:r>
            <a:endParaRPr/>
          </a:p>
        </p:txBody>
      </p:sp>
      <p:sp>
        <p:nvSpPr>
          <p:cNvPr id="479" name="Google Shape;479;p25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Tuning the classical CLAHE clip_limit</a:t>
            </a:r>
            <a:endParaRPr/>
          </a:p>
        </p:txBody>
      </p:sp>
      <p:sp>
        <p:nvSpPr>
          <p:cNvPr id="480" name="Google Shape;480;p25"/>
          <p:cNvSpPr txBox="1"/>
          <p:nvPr/>
        </p:nvSpPr>
        <p:spPr>
          <a:xfrm>
            <a:off x="548640" y="1560000"/>
            <a:ext cx="1109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Real-image output initially didn't visually match the paper's published figures, which looked like a training problem at first. It wasn't: the mismatch traced back to the classical pre-SRGAN stage -- CLAHE's clip_limit -- not the generator. Once isolated with the step-by-step pipeline-debug tool (pipeline_debug.py), the fix was a classical-parameter tune, with no retraining required.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81" name="Google Shape;481;p25"/>
          <p:cNvSpPr txBox="1"/>
          <p:nvPr/>
        </p:nvSpPr>
        <p:spPr>
          <a:xfrm>
            <a:off x="822960" y="4153635"/>
            <a:ext cx="1054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Why this mattered</a:t>
            </a:r>
            <a:endParaRPr sz="2200"/>
          </a:p>
        </p:txBody>
      </p:sp>
      <p:sp>
        <p:nvSpPr>
          <p:cNvPr id="482" name="Google Shape;482;p25"/>
          <p:cNvSpPr txBox="1"/>
          <p:nvPr/>
        </p:nvSpPr>
        <p:spPr>
          <a:xfrm>
            <a:off x="822960" y="4496535"/>
            <a:ext cx="105462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Separates two independent failure modes that look identical in a final image: a badly-trained generator vs. a mis-tuned classical stage feeding it a bad input.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83" name="Google Shape;483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EXTENSION 1</a:t>
            </a:r>
            <a:endParaRPr/>
          </a:p>
        </p:txBody>
      </p:sp>
      <p:sp>
        <p:nvSpPr>
          <p:cNvPr id="489" name="Google Shape;489;p26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Extension: Real-ESRGAN / RRDBNet transfer learning</a:t>
            </a:r>
            <a:endParaRPr/>
          </a:p>
        </p:txBody>
      </p:sp>
      <p:sp>
        <p:nvSpPr>
          <p:cNvPr id="490" name="Google Shape;490;p26"/>
          <p:cNvSpPr txBox="1"/>
          <p:nvPr/>
        </p:nvSpPr>
        <p:spPr>
          <a:xfrm>
            <a:off x="548640" y="1560000"/>
            <a:ext cx="110946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explicit, opt-in alternative to training the paper's SRGAN generator from scratch: fine-tune a pretrained Real-ESRGAN generator (RRDBNet, dense residual blocks, no BatchNorm) on the same endoscopy data instead. Official RealESRGAN_x2plus.pth weights load with zero missing/unexpected keys.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91" name="Google Shape;491;p26"/>
          <p:cNvSpPr txBox="1"/>
          <p:nvPr/>
        </p:nvSpPr>
        <p:spPr>
          <a:xfrm>
            <a:off x="822960" y="3362542"/>
            <a:ext cx="4861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scratch (train_srgan.py)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822960" y="3774022"/>
            <a:ext cx="48615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SRGANGenerator, 16 residual blocks -- 1,378,899 parameters -- matches the paper's Table 4 exactly.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93" name="Google Shape;493;p26"/>
          <p:cNvSpPr txBox="1"/>
          <p:nvPr/>
        </p:nvSpPr>
        <p:spPr>
          <a:xfrm>
            <a:off x="6507480" y="3362542"/>
            <a:ext cx="4861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Transfer learning (train_rrdb.py)</a:t>
            </a:r>
            <a:endParaRPr sz="2200"/>
          </a:p>
        </p:txBody>
      </p:sp>
      <p:sp>
        <p:nvSpPr>
          <p:cNvPr id="494" name="Google Shape;494;p26"/>
          <p:cNvSpPr txBox="1"/>
          <p:nvPr/>
        </p:nvSpPr>
        <p:spPr>
          <a:xfrm>
            <a:off x="6507480" y="3774022"/>
            <a:ext cx="48615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RRDBGeneratorV, 23 RRDB blocks -- ~16.7M parameters -- ESRGAN architecture, ImageNet-pretrained prior.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95" name="Google Shape;495;p26"/>
          <p:cNvSpPr txBox="1"/>
          <p:nvPr/>
        </p:nvSpPr>
        <p:spPr>
          <a:xfrm>
            <a:off x="822960" y="5512907"/>
            <a:ext cx="105462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Status: </a:t>
            </a:r>
            <a:r>
              <a:rPr b="0" i="0" lang="en-US" sz="2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instability observed -- discriminator dominating late in fine-tuning, likely from a 10x learning-rate gap between G and D on the same decay schedule. Not yet fixed or re-validated.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96" name="Google Shape;496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EXTENSION 2</a:t>
            </a:r>
            <a:endParaRPr/>
          </a:p>
        </p:txBody>
      </p:sp>
      <p:sp>
        <p:nvSpPr>
          <p:cNvPr id="502" name="Google Shape;502;p27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Extension: YIQ colour-space variant</a:t>
            </a:r>
            <a:endParaRPr/>
          </a:p>
        </p:txBody>
      </p:sp>
      <p:sp>
        <p:nvSpPr>
          <p:cNvPr id="503" name="Google Shape;503;p27"/>
          <p:cNvSpPr txBox="1"/>
          <p:nvPr/>
        </p:nvSpPr>
        <p:spPr>
          <a:xfrm>
            <a:off x="548640" y="1560000"/>
            <a:ext cx="110946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whether Y (perceptually-weighted luma, 0.299R+0.587G+0.114B) gives a more “honest” brightness signal for gamma/CLAHE to work on than HSV's V (=max(R,G,B), dominated by whichever channel is brightest) -- at a cost HSV never has: YIQ→RGB is a linear transform, so an independently-modified Y can push RGB out of gamut, requiring clipping.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822960" y="3296345"/>
            <a:ext cx="4861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HSV (paper-faithful)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05" name="Google Shape;505;p27"/>
          <p:cNvSpPr txBox="1"/>
          <p:nvPr/>
        </p:nvSpPr>
        <p:spPr>
          <a:xfrm>
            <a:off x="822960" y="3707825"/>
            <a:ext cx="48615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= max(R,G,B). HSV→RGB never needs clipping, by construction -- no gamut risk.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06" name="Google Shape;506;p27"/>
          <p:cNvSpPr txBox="1"/>
          <p:nvPr/>
        </p:nvSpPr>
        <p:spPr>
          <a:xfrm>
            <a:off x="6507480" y="3296345"/>
            <a:ext cx="48615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YIQ (this extension)</a:t>
            </a:r>
            <a:endParaRPr sz="2200"/>
          </a:p>
        </p:txBody>
      </p:sp>
      <p:sp>
        <p:nvSpPr>
          <p:cNvPr id="507" name="Google Shape;507;p27"/>
          <p:cNvSpPr txBox="1"/>
          <p:nvPr/>
        </p:nvSpPr>
        <p:spPr>
          <a:xfrm>
            <a:off x="6507480" y="3707825"/>
            <a:ext cx="48615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0.299R+0.587G+0.114B. Verified near-lossless round-trip (max abs diff 1.0) -- no visible clipping artifacts found in practice.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08" name="Google Shape;508;p27"/>
          <p:cNvSpPr txBox="1"/>
          <p:nvPr/>
        </p:nvSpPr>
        <p:spPr>
          <a:xfrm>
            <a:off x="822960" y="5393752"/>
            <a:ext cx="105462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Status: </a:t>
            </a:r>
            <a:r>
              <a:rPr b="0" i="0" lang="en-US" sz="2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mixed results on both the paper's test images and the 3-way comparison (next slide) -- not a clear improvement over HSV. Only smoke-tested on CPU; full-dataset GPU training not yet run.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09" name="Google Shape;509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EVALUATION 1 OF 2</a:t>
            </a:r>
            <a:endParaRPr/>
          </a:p>
        </p:txBody>
      </p:sp>
      <p:sp>
        <p:nvSpPr>
          <p:cNvPr id="515" name="Google Shape;515;p28"/>
          <p:cNvSpPr txBox="1"/>
          <p:nvPr/>
        </p:nvSpPr>
        <p:spPr>
          <a:xfrm>
            <a:off x="548640" y="658368"/>
            <a:ext cx="10607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Comparative evaluation: three super-resolution strategies </a:t>
            </a:r>
            <a:r>
              <a:rPr b="1" lang="en-US" sz="3000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test image 1</a:t>
            </a:r>
            <a:endParaRPr/>
          </a:p>
        </p:txBody>
      </p:sp>
      <p:pic>
        <p:nvPicPr>
          <p:cNvPr descr="input_original.png" id="516" name="Google Shape;5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1000" y="1950000"/>
            <a:ext cx="19500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8"/>
          <p:cNvSpPr txBox="1"/>
          <p:nvPr/>
        </p:nvSpPr>
        <p:spPr>
          <a:xfrm>
            <a:off x="1951000" y="3930000"/>
            <a:ext cx="20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862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/>
          </a:p>
        </p:txBody>
      </p:sp>
      <p:pic>
        <p:nvPicPr>
          <p:cNvPr descr="input_method1_srgan_v.png" id="518" name="Google Shape;5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1000" y="1950000"/>
            <a:ext cx="19500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8"/>
          <p:cNvSpPr txBox="1"/>
          <p:nvPr/>
        </p:nvSpPr>
        <p:spPr>
          <a:xfrm>
            <a:off x="4031000" y="3930000"/>
            <a:ext cx="20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1 — SRGAN (paper-faithful)</a:t>
            </a:r>
            <a:endParaRPr/>
          </a:p>
        </p:txBody>
      </p:sp>
      <p:pic>
        <p:nvPicPr>
          <p:cNvPr descr="input_method2_rrdb_transfer.png" id="520" name="Google Shape;52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1000" y="1950000"/>
            <a:ext cx="19500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8"/>
          <p:cNvSpPr txBox="1"/>
          <p:nvPr/>
        </p:nvSpPr>
        <p:spPr>
          <a:xfrm>
            <a:off x="6111000" y="3930000"/>
            <a:ext cx="20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862"/>
                </a:solidFill>
                <a:latin typeface="Calibri"/>
                <a:ea typeface="Calibri"/>
                <a:cs typeface="Calibri"/>
                <a:sym typeface="Calibri"/>
              </a:rPr>
              <a:t>2 — RRDB transfer</a:t>
            </a:r>
            <a:endParaRPr/>
          </a:p>
        </p:txBody>
      </p:sp>
      <p:pic>
        <p:nvPicPr>
          <p:cNvPr descr="input_method3_yiq.png" id="522" name="Google Shape;52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1000" y="1950000"/>
            <a:ext cx="19500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8"/>
          <p:cNvSpPr txBox="1"/>
          <p:nvPr/>
        </p:nvSpPr>
        <p:spPr>
          <a:xfrm>
            <a:off x="8191000" y="3930000"/>
            <a:ext cx="20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862"/>
                </a:solidFill>
                <a:latin typeface="Calibri"/>
                <a:ea typeface="Calibri"/>
                <a:cs typeface="Calibri"/>
                <a:sym typeface="Calibri"/>
              </a:rPr>
              <a:t>3 — YIQ variant</a:t>
            </a:r>
            <a:endParaRPr/>
          </a:p>
        </p:txBody>
      </p:sp>
      <p:sp>
        <p:nvSpPr>
          <p:cNvPr id="524" name="Google Shape;524;p28"/>
          <p:cNvSpPr/>
          <p:nvPr/>
        </p:nvSpPr>
        <p:spPr>
          <a:xfrm>
            <a:off x="518265" y="4354475"/>
            <a:ext cx="4200000" cy="3501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8"/>
          <p:cNvSpPr txBox="1"/>
          <p:nvPr/>
        </p:nvSpPr>
        <p:spPr>
          <a:xfrm>
            <a:off x="655425" y="4354475"/>
            <a:ext cx="3925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sz="2100"/>
          </a:p>
        </p:txBody>
      </p:sp>
      <p:sp>
        <p:nvSpPr>
          <p:cNvPr id="526" name="Google Shape;526;p28"/>
          <p:cNvSpPr/>
          <p:nvPr/>
        </p:nvSpPr>
        <p:spPr>
          <a:xfrm>
            <a:off x="4718265" y="4354475"/>
            <a:ext cx="1716000" cy="3501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8"/>
          <p:cNvSpPr txBox="1"/>
          <p:nvPr/>
        </p:nvSpPr>
        <p:spPr>
          <a:xfrm>
            <a:off x="4855425" y="4354475"/>
            <a:ext cx="1441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PSNR</a:t>
            </a:r>
            <a:endParaRPr sz="2200"/>
          </a:p>
        </p:txBody>
      </p:sp>
      <p:sp>
        <p:nvSpPr>
          <p:cNvPr id="528" name="Google Shape;528;p28"/>
          <p:cNvSpPr/>
          <p:nvPr/>
        </p:nvSpPr>
        <p:spPr>
          <a:xfrm>
            <a:off x="6434325" y="4354475"/>
            <a:ext cx="1716000" cy="3501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8"/>
          <p:cNvSpPr txBox="1"/>
          <p:nvPr/>
        </p:nvSpPr>
        <p:spPr>
          <a:xfrm>
            <a:off x="6571485" y="4354475"/>
            <a:ext cx="1441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SSIM</a:t>
            </a:r>
            <a:endParaRPr sz="2200"/>
          </a:p>
        </p:txBody>
      </p:sp>
      <p:sp>
        <p:nvSpPr>
          <p:cNvPr id="530" name="Google Shape;530;p28"/>
          <p:cNvSpPr/>
          <p:nvPr/>
        </p:nvSpPr>
        <p:spPr>
          <a:xfrm>
            <a:off x="8127802" y="4352394"/>
            <a:ext cx="1716000" cy="3501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8"/>
          <p:cNvSpPr txBox="1"/>
          <p:nvPr/>
        </p:nvSpPr>
        <p:spPr>
          <a:xfrm>
            <a:off x="8264962" y="4352394"/>
            <a:ext cx="1441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MSE</a:t>
            </a:r>
            <a:endParaRPr sz="2200"/>
          </a:p>
        </p:txBody>
      </p:sp>
      <p:sp>
        <p:nvSpPr>
          <p:cNvPr id="532" name="Google Shape;532;p28"/>
          <p:cNvSpPr/>
          <p:nvPr/>
        </p:nvSpPr>
        <p:spPr>
          <a:xfrm>
            <a:off x="9843862" y="4352394"/>
            <a:ext cx="1716000" cy="3501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8"/>
          <p:cNvSpPr txBox="1"/>
          <p:nvPr/>
        </p:nvSpPr>
        <p:spPr>
          <a:xfrm>
            <a:off x="9981022" y="4352394"/>
            <a:ext cx="1441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LPIPS</a:t>
            </a:r>
            <a:endParaRPr sz="2200"/>
          </a:p>
        </p:txBody>
      </p:sp>
      <p:sp>
        <p:nvSpPr>
          <p:cNvPr id="534" name="Google Shape;534;p28"/>
          <p:cNvSpPr txBox="1"/>
          <p:nvPr/>
        </p:nvSpPr>
        <p:spPr>
          <a:xfrm>
            <a:off x="655425" y="4704475"/>
            <a:ext cx="3925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900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900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-HSV + srgan_v_transfer.pth (RRDB)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4718265" y="4704475"/>
            <a:ext cx="1716000" cy="350100"/>
          </a:xfrm>
          <a:prstGeom prst="rect">
            <a:avLst/>
          </a:prstGeom>
          <a:solidFill>
            <a:srgbClr val="E3F2E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20.62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6434325" y="4704475"/>
            <a:ext cx="1716000" cy="350100"/>
          </a:xfrm>
          <a:prstGeom prst="rect">
            <a:avLst/>
          </a:prstGeom>
          <a:solidFill>
            <a:srgbClr val="E3F2E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0.785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8127802" y="4702394"/>
            <a:ext cx="1716000" cy="350100"/>
          </a:xfrm>
          <a:prstGeom prst="rect">
            <a:avLst/>
          </a:prstGeom>
          <a:solidFill>
            <a:srgbClr val="E3F2E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444.4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9843862" y="4702394"/>
            <a:ext cx="1716000" cy="350100"/>
          </a:xfrm>
          <a:prstGeom prst="rect">
            <a:avLst/>
          </a:prstGeom>
          <a:solidFill>
            <a:srgbClr val="E3F2E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0.269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518265" y="5054475"/>
            <a:ext cx="4200000" cy="3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900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lang="en-US" sz="1900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2-YIQ + srgan_yiq.pth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4718265" y="5054475"/>
            <a:ext cx="1716000" cy="3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19.94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6434325" y="5054475"/>
            <a:ext cx="1716000" cy="3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0.755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8127802" y="5052394"/>
            <a:ext cx="1716000" cy="3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657.9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9843862" y="5052394"/>
            <a:ext cx="1716000" cy="35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0.217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544" name="Google Shape;544;p28"/>
          <p:cNvSpPr txBox="1"/>
          <p:nvPr/>
        </p:nvSpPr>
        <p:spPr>
          <a:xfrm>
            <a:off x="518265" y="5814475"/>
            <a:ext cx="1109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545" name="Google Shape;545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9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6E6E"/>
                </a:solidFill>
                <a:latin typeface="Calibri"/>
                <a:ea typeface="Calibri"/>
                <a:cs typeface="Calibri"/>
                <a:sym typeface="Calibri"/>
              </a:rPr>
              <a:t>TRAINING TRACK · EVALUATION 2 OF 2</a:t>
            </a:r>
            <a:endParaRPr/>
          </a:p>
        </p:txBody>
      </p:sp>
      <p:sp>
        <p:nvSpPr>
          <p:cNvPr id="551" name="Google Shape;551;p29"/>
          <p:cNvSpPr txBox="1"/>
          <p:nvPr/>
        </p:nvSpPr>
        <p:spPr>
          <a:xfrm>
            <a:off x="548640" y="658368"/>
            <a:ext cx="10607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Comparative evaluation: three super-resolution strategies </a:t>
            </a:r>
            <a:r>
              <a:rPr b="1" lang="en-US" sz="3000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-</a:t>
            </a:r>
            <a:r>
              <a:rPr b="1" i="0" lang="en-US" sz="3000" u="none" cap="none" strike="noStrike">
                <a:solidFill>
                  <a:srgbClr val="2B2B28"/>
                </a:solidFill>
                <a:latin typeface="Cambria"/>
                <a:ea typeface="Cambria"/>
                <a:cs typeface="Cambria"/>
                <a:sym typeface="Cambria"/>
              </a:rPr>
              <a:t> test image 2</a:t>
            </a:r>
            <a:endParaRPr/>
          </a:p>
        </p:txBody>
      </p:sp>
      <p:pic>
        <p:nvPicPr>
          <p:cNvPr descr="pylorus_original.png" id="552" name="Google Shape;55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1000" y="1950000"/>
            <a:ext cx="19500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29"/>
          <p:cNvSpPr txBox="1"/>
          <p:nvPr/>
        </p:nvSpPr>
        <p:spPr>
          <a:xfrm>
            <a:off x="1951000" y="3930000"/>
            <a:ext cx="20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862"/>
                </a:solidFill>
                <a:latin typeface="Calibri"/>
                <a:ea typeface="Calibri"/>
                <a:cs typeface="Calibri"/>
                <a:sym typeface="Calibri"/>
              </a:rPr>
              <a:t>Original</a:t>
            </a:r>
            <a:endParaRPr/>
          </a:p>
        </p:txBody>
      </p:sp>
      <p:pic>
        <p:nvPicPr>
          <p:cNvPr descr="pylorus_method1_srgan_v.png" id="554" name="Google Shape;5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1000" y="1950000"/>
            <a:ext cx="19500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9"/>
          <p:cNvSpPr txBox="1"/>
          <p:nvPr/>
        </p:nvSpPr>
        <p:spPr>
          <a:xfrm>
            <a:off x="4031000" y="3930000"/>
            <a:ext cx="20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862"/>
                </a:solidFill>
                <a:latin typeface="Calibri"/>
                <a:ea typeface="Calibri"/>
                <a:cs typeface="Calibri"/>
                <a:sym typeface="Calibri"/>
              </a:rPr>
              <a:t>1 — SRGAN (paper-faithful)</a:t>
            </a:r>
            <a:endParaRPr/>
          </a:p>
        </p:txBody>
      </p:sp>
      <p:pic>
        <p:nvPicPr>
          <p:cNvPr descr="pylorus_method2_rrdb_transfer.png" id="556" name="Google Shape;55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1000" y="1950000"/>
            <a:ext cx="19500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9"/>
          <p:cNvSpPr txBox="1"/>
          <p:nvPr/>
        </p:nvSpPr>
        <p:spPr>
          <a:xfrm>
            <a:off x="6111000" y="3930000"/>
            <a:ext cx="20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862"/>
                </a:solidFill>
                <a:latin typeface="Calibri"/>
                <a:ea typeface="Calibri"/>
                <a:cs typeface="Calibri"/>
                <a:sym typeface="Calibri"/>
              </a:rPr>
              <a:t>2 — RRDB transfer</a:t>
            </a:r>
            <a:endParaRPr/>
          </a:p>
        </p:txBody>
      </p:sp>
      <p:pic>
        <p:nvPicPr>
          <p:cNvPr descr="pylorus_method3_yiq.png" id="558" name="Google Shape;55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1000" y="1950000"/>
            <a:ext cx="1950000" cy="19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9"/>
          <p:cNvSpPr txBox="1"/>
          <p:nvPr/>
        </p:nvSpPr>
        <p:spPr>
          <a:xfrm>
            <a:off x="8191000" y="3930000"/>
            <a:ext cx="20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862"/>
                </a:solidFill>
                <a:latin typeface="Calibri"/>
                <a:ea typeface="Calibri"/>
                <a:cs typeface="Calibri"/>
                <a:sym typeface="Calibri"/>
              </a:rPr>
              <a:t>3 — YIQ variant</a:t>
            </a:r>
            <a:endParaRPr/>
          </a:p>
        </p:txBody>
      </p:sp>
      <p:sp>
        <p:nvSpPr>
          <p:cNvPr id="560" name="Google Shape;560;p29"/>
          <p:cNvSpPr/>
          <p:nvPr/>
        </p:nvSpPr>
        <p:spPr>
          <a:xfrm>
            <a:off x="548640" y="4220000"/>
            <a:ext cx="4200000" cy="3500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9"/>
          <p:cNvSpPr txBox="1"/>
          <p:nvPr/>
        </p:nvSpPr>
        <p:spPr>
          <a:xfrm>
            <a:off x="685800" y="4220000"/>
            <a:ext cx="39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sz="1800"/>
          </a:p>
        </p:txBody>
      </p:sp>
      <p:sp>
        <p:nvSpPr>
          <p:cNvPr id="562" name="Google Shape;562;p29"/>
          <p:cNvSpPr/>
          <p:nvPr/>
        </p:nvSpPr>
        <p:spPr>
          <a:xfrm>
            <a:off x="4748640" y="4220000"/>
            <a:ext cx="1716060" cy="3500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9"/>
          <p:cNvSpPr txBox="1"/>
          <p:nvPr/>
        </p:nvSpPr>
        <p:spPr>
          <a:xfrm>
            <a:off x="4885800" y="422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PSNR</a:t>
            </a:r>
            <a:endParaRPr sz="1800"/>
          </a:p>
        </p:txBody>
      </p:sp>
      <p:sp>
        <p:nvSpPr>
          <p:cNvPr id="564" name="Google Shape;564;p29"/>
          <p:cNvSpPr/>
          <p:nvPr/>
        </p:nvSpPr>
        <p:spPr>
          <a:xfrm>
            <a:off x="6464700" y="4220000"/>
            <a:ext cx="1716060" cy="3500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9"/>
          <p:cNvSpPr txBox="1"/>
          <p:nvPr/>
        </p:nvSpPr>
        <p:spPr>
          <a:xfrm>
            <a:off x="6601860" y="422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SSIM</a:t>
            </a:r>
            <a:endParaRPr sz="1800"/>
          </a:p>
        </p:txBody>
      </p:sp>
      <p:sp>
        <p:nvSpPr>
          <p:cNvPr id="566" name="Google Shape;566;p29"/>
          <p:cNvSpPr/>
          <p:nvPr/>
        </p:nvSpPr>
        <p:spPr>
          <a:xfrm>
            <a:off x="8180760" y="4220000"/>
            <a:ext cx="1716060" cy="3500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9"/>
          <p:cNvSpPr txBox="1"/>
          <p:nvPr/>
        </p:nvSpPr>
        <p:spPr>
          <a:xfrm>
            <a:off x="8317920" y="422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MSE</a:t>
            </a:r>
            <a:endParaRPr sz="1800"/>
          </a:p>
        </p:txBody>
      </p:sp>
      <p:sp>
        <p:nvSpPr>
          <p:cNvPr id="568" name="Google Shape;568;p29"/>
          <p:cNvSpPr/>
          <p:nvPr/>
        </p:nvSpPr>
        <p:spPr>
          <a:xfrm>
            <a:off x="9896820" y="4220000"/>
            <a:ext cx="1716060" cy="350000"/>
          </a:xfrm>
          <a:prstGeom prst="rect">
            <a:avLst/>
          </a:prstGeom>
          <a:solidFill>
            <a:srgbClr val="0B6E6E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9"/>
          <p:cNvSpPr txBox="1"/>
          <p:nvPr/>
        </p:nvSpPr>
        <p:spPr>
          <a:xfrm>
            <a:off x="10033980" y="422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LPIPS</a:t>
            </a:r>
            <a:endParaRPr sz="1800"/>
          </a:p>
        </p:txBody>
      </p:sp>
      <p:sp>
        <p:nvSpPr>
          <p:cNvPr id="570" name="Google Shape;570;p29"/>
          <p:cNvSpPr/>
          <p:nvPr/>
        </p:nvSpPr>
        <p:spPr>
          <a:xfrm>
            <a:off x="548640" y="4570000"/>
            <a:ext cx="420000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9"/>
          <p:cNvSpPr txBox="1"/>
          <p:nvPr/>
        </p:nvSpPr>
        <p:spPr>
          <a:xfrm>
            <a:off x="685800" y="4570000"/>
            <a:ext cx="39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-US" sz="1800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8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HSV + srgan_v.pth (paper-faithful)</a:t>
            </a:r>
            <a:endParaRPr sz="1800"/>
          </a:p>
        </p:txBody>
      </p:sp>
      <p:sp>
        <p:nvSpPr>
          <p:cNvPr id="572" name="Google Shape;572;p29"/>
          <p:cNvSpPr/>
          <p:nvPr/>
        </p:nvSpPr>
        <p:spPr>
          <a:xfrm>
            <a:off x="4748640" y="4570000"/>
            <a:ext cx="171606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9"/>
          <p:cNvSpPr txBox="1"/>
          <p:nvPr/>
        </p:nvSpPr>
        <p:spPr>
          <a:xfrm>
            <a:off x="4885800" y="457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21.75</a:t>
            </a:r>
            <a:endParaRPr sz="1800"/>
          </a:p>
        </p:txBody>
      </p:sp>
      <p:sp>
        <p:nvSpPr>
          <p:cNvPr id="574" name="Google Shape;574;p29"/>
          <p:cNvSpPr/>
          <p:nvPr/>
        </p:nvSpPr>
        <p:spPr>
          <a:xfrm>
            <a:off x="6464700" y="4570000"/>
            <a:ext cx="1716060" cy="350000"/>
          </a:xfrm>
          <a:prstGeom prst="rect">
            <a:avLst/>
          </a:prstGeom>
          <a:solidFill>
            <a:srgbClr val="E3F2E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9"/>
          <p:cNvSpPr txBox="1"/>
          <p:nvPr/>
        </p:nvSpPr>
        <p:spPr>
          <a:xfrm>
            <a:off x="6601860" y="457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6E6E"/>
                </a:solidFill>
                <a:latin typeface="Cambria"/>
                <a:ea typeface="Cambria"/>
                <a:cs typeface="Cambria"/>
                <a:sym typeface="Cambria"/>
              </a:rPr>
              <a:t>0.874</a:t>
            </a:r>
            <a:endParaRPr sz="1800"/>
          </a:p>
        </p:txBody>
      </p:sp>
      <p:sp>
        <p:nvSpPr>
          <p:cNvPr id="576" name="Google Shape;576;p29"/>
          <p:cNvSpPr/>
          <p:nvPr/>
        </p:nvSpPr>
        <p:spPr>
          <a:xfrm>
            <a:off x="8180760" y="4570000"/>
            <a:ext cx="171606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9"/>
          <p:cNvSpPr txBox="1"/>
          <p:nvPr/>
        </p:nvSpPr>
        <p:spPr>
          <a:xfrm>
            <a:off x="8317920" y="457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420.6</a:t>
            </a:r>
            <a:endParaRPr sz="1800"/>
          </a:p>
        </p:txBody>
      </p:sp>
      <p:sp>
        <p:nvSpPr>
          <p:cNvPr id="578" name="Google Shape;578;p29"/>
          <p:cNvSpPr/>
          <p:nvPr/>
        </p:nvSpPr>
        <p:spPr>
          <a:xfrm>
            <a:off x="9896820" y="4570000"/>
            <a:ext cx="1716060" cy="350000"/>
          </a:xfrm>
          <a:prstGeom prst="rect">
            <a:avLst/>
          </a:prstGeom>
          <a:solidFill>
            <a:srgbClr val="E3F2E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9"/>
          <p:cNvSpPr txBox="1"/>
          <p:nvPr/>
        </p:nvSpPr>
        <p:spPr>
          <a:xfrm>
            <a:off x="10033980" y="457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6E6E"/>
                </a:solidFill>
                <a:latin typeface="Cambria"/>
                <a:ea typeface="Cambria"/>
                <a:cs typeface="Cambria"/>
                <a:sym typeface="Cambria"/>
              </a:rPr>
              <a:t>0.190</a:t>
            </a:r>
            <a:endParaRPr sz="1800"/>
          </a:p>
        </p:txBody>
      </p:sp>
      <p:sp>
        <p:nvSpPr>
          <p:cNvPr id="580" name="Google Shape;580;p29"/>
          <p:cNvSpPr/>
          <p:nvPr/>
        </p:nvSpPr>
        <p:spPr>
          <a:xfrm>
            <a:off x="548640" y="4920000"/>
            <a:ext cx="420000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4748640" y="4920000"/>
            <a:ext cx="171606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9"/>
          <p:cNvSpPr txBox="1"/>
          <p:nvPr/>
        </p:nvSpPr>
        <p:spPr>
          <a:xfrm>
            <a:off x="4885800" y="492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22.70</a:t>
            </a:r>
            <a:endParaRPr sz="1800"/>
          </a:p>
        </p:txBody>
      </p:sp>
      <p:sp>
        <p:nvSpPr>
          <p:cNvPr id="583" name="Google Shape;583;p29"/>
          <p:cNvSpPr/>
          <p:nvPr/>
        </p:nvSpPr>
        <p:spPr>
          <a:xfrm>
            <a:off x="6464700" y="4920000"/>
            <a:ext cx="171606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9"/>
          <p:cNvSpPr txBox="1"/>
          <p:nvPr/>
        </p:nvSpPr>
        <p:spPr>
          <a:xfrm>
            <a:off x="6601860" y="492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0.867</a:t>
            </a:r>
            <a:endParaRPr sz="1800"/>
          </a:p>
        </p:txBody>
      </p:sp>
      <p:sp>
        <p:nvSpPr>
          <p:cNvPr id="585" name="Google Shape;585;p29"/>
          <p:cNvSpPr/>
          <p:nvPr/>
        </p:nvSpPr>
        <p:spPr>
          <a:xfrm>
            <a:off x="8180760" y="4920000"/>
            <a:ext cx="171606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9"/>
          <p:cNvSpPr txBox="1"/>
          <p:nvPr/>
        </p:nvSpPr>
        <p:spPr>
          <a:xfrm>
            <a:off x="8317920" y="492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339.1</a:t>
            </a:r>
            <a:endParaRPr sz="1800"/>
          </a:p>
        </p:txBody>
      </p:sp>
      <p:sp>
        <p:nvSpPr>
          <p:cNvPr id="587" name="Google Shape;587;p29"/>
          <p:cNvSpPr/>
          <p:nvPr/>
        </p:nvSpPr>
        <p:spPr>
          <a:xfrm>
            <a:off x="9896820" y="4920000"/>
            <a:ext cx="171606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9"/>
          <p:cNvSpPr txBox="1"/>
          <p:nvPr/>
        </p:nvSpPr>
        <p:spPr>
          <a:xfrm>
            <a:off x="10033980" y="492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0.201</a:t>
            </a:r>
            <a:endParaRPr sz="1800"/>
          </a:p>
        </p:txBody>
      </p:sp>
      <p:sp>
        <p:nvSpPr>
          <p:cNvPr id="589" name="Google Shape;589;p29"/>
          <p:cNvSpPr/>
          <p:nvPr/>
        </p:nvSpPr>
        <p:spPr>
          <a:xfrm>
            <a:off x="548640" y="5270000"/>
            <a:ext cx="420000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9"/>
          <p:cNvSpPr txBox="1"/>
          <p:nvPr/>
        </p:nvSpPr>
        <p:spPr>
          <a:xfrm>
            <a:off x="685800" y="5270000"/>
            <a:ext cx="39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b="1" lang="en-US" sz="1800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8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YIQ + srgan_yiq.pth</a:t>
            </a:r>
            <a:endParaRPr sz="1800"/>
          </a:p>
        </p:txBody>
      </p:sp>
      <p:sp>
        <p:nvSpPr>
          <p:cNvPr id="591" name="Google Shape;591;p29"/>
          <p:cNvSpPr/>
          <p:nvPr/>
        </p:nvSpPr>
        <p:spPr>
          <a:xfrm>
            <a:off x="4748640" y="5270000"/>
            <a:ext cx="1716060" cy="350000"/>
          </a:xfrm>
          <a:prstGeom prst="rect">
            <a:avLst/>
          </a:prstGeom>
          <a:solidFill>
            <a:srgbClr val="E3F2E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9"/>
          <p:cNvSpPr txBox="1"/>
          <p:nvPr/>
        </p:nvSpPr>
        <p:spPr>
          <a:xfrm>
            <a:off x="4885800" y="527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6E6E"/>
                </a:solidFill>
                <a:latin typeface="Cambria"/>
                <a:ea typeface="Cambria"/>
                <a:cs typeface="Cambria"/>
                <a:sym typeface="Cambria"/>
              </a:rPr>
              <a:t>22.85</a:t>
            </a:r>
            <a:endParaRPr sz="1800"/>
          </a:p>
        </p:txBody>
      </p:sp>
      <p:sp>
        <p:nvSpPr>
          <p:cNvPr id="593" name="Google Shape;593;p29"/>
          <p:cNvSpPr/>
          <p:nvPr/>
        </p:nvSpPr>
        <p:spPr>
          <a:xfrm>
            <a:off x="6464700" y="5270000"/>
            <a:ext cx="171606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9"/>
          <p:cNvSpPr txBox="1"/>
          <p:nvPr/>
        </p:nvSpPr>
        <p:spPr>
          <a:xfrm>
            <a:off x="6601860" y="527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0.826</a:t>
            </a:r>
            <a:endParaRPr sz="1800"/>
          </a:p>
        </p:txBody>
      </p:sp>
      <p:sp>
        <p:nvSpPr>
          <p:cNvPr id="595" name="Google Shape;595;p29"/>
          <p:cNvSpPr/>
          <p:nvPr/>
        </p:nvSpPr>
        <p:spPr>
          <a:xfrm>
            <a:off x="8180760" y="5270000"/>
            <a:ext cx="1716060" cy="350000"/>
          </a:xfrm>
          <a:prstGeom prst="rect">
            <a:avLst/>
          </a:prstGeom>
          <a:solidFill>
            <a:srgbClr val="E3F2E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9"/>
          <p:cNvSpPr txBox="1"/>
          <p:nvPr/>
        </p:nvSpPr>
        <p:spPr>
          <a:xfrm>
            <a:off x="8317920" y="527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B6E6E"/>
                </a:solidFill>
                <a:latin typeface="Cambria"/>
                <a:ea typeface="Cambria"/>
                <a:cs typeface="Cambria"/>
                <a:sym typeface="Cambria"/>
              </a:rPr>
              <a:t>337.6</a:t>
            </a:r>
            <a:endParaRPr sz="1800"/>
          </a:p>
        </p:txBody>
      </p:sp>
      <p:sp>
        <p:nvSpPr>
          <p:cNvPr id="597" name="Google Shape;597;p29"/>
          <p:cNvSpPr/>
          <p:nvPr/>
        </p:nvSpPr>
        <p:spPr>
          <a:xfrm>
            <a:off x="9896820" y="5270000"/>
            <a:ext cx="1716060" cy="35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7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9"/>
          <p:cNvSpPr txBox="1"/>
          <p:nvPr/>
        </p:nvSpPr>
        <p:spPr>
          <a:xfrm>
            <a:off x="10033980" y="5270000"/>
            <a:ext cx="144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862"/>
                </a:solidFill>
                <a:latin typeface="Cambria"/>
                <a:ea typeface="Cambria"/>
                <a:cs typeface="Cambria"/>
                <a:sym typeface="Cambria"/>
              </a:rPr>
              <a:t>0.239</a:t>
            </a:r>
            <a:endParaRPr sz="1800"/>
          </a:p>
        </p:txBody>
      </p:sp>
      <p:sp>
        <p:nvSpPr>
          <p:cNvPr id="599" name="Google Shape;599;p29"/>
          <p:cNvSpPr txBox="1"/>
          <p:nvPr/>
        </p:nvSpPr>
        <p:spPr>
          <a:xfrm>
            <a:off x="685800" y="4920000"/>
            <a:ext cx="39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-US" sz="1800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800" u="none" cap="none" strike="noStrike">
                <a:solidFill>
                  <a:srgbClr val="2B2B28"/>
                </a:solidFill>
                <a:latin typeface="Calibri"/>
                <a:ea typeface="Calibri"/>
                <a:cs typeface="Calibri"/>
                <a:sym typeface="Calibri"/>
              </a:rPr>
              <a:t>HSV + srgan_v_transfer.pth (RRDB)</a:t>
            </a:r>
            <a:endParaRPr sz="1800"/>
          </a:p>
        </p:txBody>
      </p:sp>
      <p:sp>
        <p:nvSpPr>
          <p:cNvPr id="600" name="Google Shape;600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